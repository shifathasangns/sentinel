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E293B"/>
                </a:solidFill>
              </a:rPr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28016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8016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0253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0253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0253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2724912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24912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724912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Transformations: creating and combining objects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47288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47288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47288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Illumination models and light sources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169664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4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169664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The rendering pipeline: shadows, ambient, tone map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89204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Results, verification and a bug fixed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1441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1441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61441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30" name="Picture 29" descr="mod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600200"/>
            <a:ext cx="4389120" cy="75077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0" y="242412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Six illumination models, one sphere each</a:t>
            </a:r>
          </a:p>
        </p:txBody>
      </p:sp>
      <p:pic>
        <p:nvPicPr>
          <p:cNvPr id="32" name="Picture 31" descr="ta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33" name="Picture 32" descr="tru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7315200" y="4110047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Objects are transformed primitives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603504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60350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75688"/>
            <a:ext cx="64008" cy="101498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669279" cy="7040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6035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64008" cy="16093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5669279" cy="12984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Layered engine, downward dependencies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All content from code and seeds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Modern renderer and a playable game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Verified by tests and a 16.7 ms budget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1556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413248"/>
            <a:ext cx="64008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69848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The game: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jeep, truck, carrier, tank and a helicopter you can drive; ladders and doors; stealth enemies; a five-objective mission (hack, destroy, rescue, extract); all sounds synthesised.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0972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E8F7F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0972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Game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mission, AI, vehicles, sound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73736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DAEEE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73736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Render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deferred, lights, sky, post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377439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CCE5E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377439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World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collision, terrain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0175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EDCD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301752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Procedural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noise, textures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365760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0D3D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65760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GPU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shaders, buffers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42976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A2CAC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42976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Platform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window, input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521440" y="1143000"/>
            <a:ext cx="0" cy="36118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9" name="Picture 8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486400" cy="1077084"/>
          </a:xfrm>
          <a:prstGeom prst="rect">
            <a:avLst/>
          </a:prstGeom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48640" y="215607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40124"/>
            <a:ext cx="54864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49852"/>
            <a:ext cx="64008" cy="21122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3156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4" name="Picture 13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6323" y="2997324"/>
            <a:ext cx="2451032" cy="176479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009004"/>
            <a:ext cx="5486400" cy="13460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118732"/>
            <a:ext cx="64008" cy="1126619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0044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8" name="Picture 17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729277"/>
            <a:ext cx="4846320" cy="25300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5080" y="1097280"/>
            <a:ext cx="5349240" cy="3017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  <p:pic>
        <p:nvPicPr>
          <p:cNvPr id="20" name="Picture 19" descr="showroo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931920"/>
            <a:ext cx="4206240" cy="236601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21" name="TextBox 20"/>
          <p:cNvSpPr txBox="1"/>
          <p:nvPr/>
        </p:nvSpPr>
        <p:spPr>
          <a:xfrm>
            <a:off x="6766560" y="6334505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The material showroom: one sphere per recipe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Transformations: creating and combining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973580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Primitive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mesh</a:t>
            </a:r>
          </a:p>
        </p:txBody>
      </p:sp>
      <p:sp>
        <p:nvSpPr>
          <p:cNvPr id="11" name="Chevron 10"/>
          <p:cNvSpPr/>
          <p:nvPr/>
        </p:nvSpPr>
        <p:spPr>
          <a:xfrm>
            <a:off x="238506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109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Deformers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(own space)</a:t>
            </a:r>
          </a:p>
        </p:txBody>
      </p:sp>
      <p:sp>
        <p:nvSpPr>
          <p:cNvPr id="13" name="Chevron 12"/>
          <p:cNvSpPr/>
          <p:nvPr/>
        </p:nvSpPr>
        <p:spPr>
          <a:xfrm>
            <a:off x="422148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M_part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scale, turn, move</a:t>
            </a:r>
          </a:p>
        </p:txBody>
      </p:sp>
      <p:sp>
        <p:nvSpPr>
          <p:cNvPr id="15" name="Chevron 14"/>
          <p:cNvSpPr/>
          <p:nvPr/>
        </p:nvSpPr>
        <p:spPr>
          <a:xfrm>
            <a:off x="605790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393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Merge by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material</a:t>
            </a:r>
          </a:p>
        </p:txBody>
      </p:sp>
      <p:sp>
        <p:nvSpPr>
          <p:cNvPr id="17" name="Chevron 16"/>
          <p:cNvSpPr/>
          <p:nvPr/>
        </p:nvSpPr>
        <p:spPr>
          <a:xfrm>
            <a:off x="789432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35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M_world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instances</a:t>
            </a:r>
          </a:p>
        </p:txBody>
      </p:sp>
      <p:sp>
        <p:nvSpPr>
          <p:cNvPr id="19" name="Chevron 18"/>
          <p:cNvSpPr/>
          <p:nvPr/>
        </p:nvSpPr>
        <p:spPr>
          <a:xfrm>
            <a:off x="973074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8677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V then 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to screen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011680"/>
            <a:ext cx="56692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21408"/>
            <a:ext cx="64008" cy="19751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ONE PART: SCALE, THEN TURN, THEN MOVE</a:t>
            </a:r>
          </a:p>
        </p:txBody>
      </p:sp>
      <p:pic>
        <p:nvPicPr>
          <p:cNvPr id="24" name="Picture 23" descr="m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38" y="2838411"/>
            <a:ext cx="4556683" cy="358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602735"/>
            <a:ext cx="530352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Right to left: stretched, turned about its own centre, moved last.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Example: (1,0,0) → S(2,1,1) → R_y 90° → T(5,0,0) = (5, 0, 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43400"/>
            <a:ext cx="56692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453128"/>
            <a:ext cx="64008" cy="17922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3484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NORMALS USE THE INVERSE TRANSPOSE</a:t>
            </a:r>
          </a:p>
        </p:txBody>
      </p:sp>
      <p:pic>
        <p:nvPicPr>
          <p:cNvPr id="29" name="Picture 28" descr="nm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933558"/>
            <a:ext cx="5029200" cy="64848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5751576"/>
            <a:ext cx="530352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S = diag(2,1,1): correct (0.447, 0.894, 0); naive (0.894, 0.447, 0) is wrong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0116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2121408"/>
            <a:ext cx="64008" cy="15636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10312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ROTATION ABOUT Y</a:t>
            </a:r>
          </a:p>
        </p:txBody>
      </p:sp>
      <p:pic>
        <p:nvPicPr>
          <p:cNvPr id="34" name="Picture 33" descr="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133" y="2513114"/>
            <a:ext cx="3676573" cy="1127683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6446520" y="3931920"/>
            <a:ext cx="52578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04164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023359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HIERARCHY: PRODUCTS DOWN THE CHAIN</a:t>
            </a:r>
          </a:p>
        </p:txBody>
      </p:sp>
      <p:pic>
        <p:nvPicPr>
          <p:cNvPr id="38" name="Picture 37" descr="mg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4541450"/>
            <a:ext cx="4617720" cy="31713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446520" y="5257800"/>
            <a:ext cx="52578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5367528"/>
            <a:ext cx="64008" cy="877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4924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WORLD TO SCREEN</a:t>
            </a:r>
          </a:p>
        </p:txBody>
      </p:sp>
      <p:pic>
        <p:nvPicPr>
          <p:cNvPr id="42" name="Picture 41" descr="cli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023" y="5808726"/>
            <a:ext cx="3150793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Illumination models and light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05840"/>
            <a:ext cx="11155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1556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097280"/>
            <a:ext cx="1078991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DIRECT LIGHT + AMBIENT + EMISSION     (F: ILLUMINATION MODEL · ATT: FALLOFF · SH: SHADOW · N_L: NUMBER OF LIGHTS)</a:t>
            </a:r>
          </a:p>
        </p:txBody>
      </p:sp>
      <p:pic>
        <p:nvPicPr>
          <p:cNvPr id="12" name="Picture 11" descr="s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097" y="1463040"/>
            <a:ext cx="5148764" cy="62179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23317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441448"/>
            <a:ext cx="64008" cy="3803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Lambert</a:t>
            </a:r>
          </a:p>
        </p:txBody>
      </p:sp>
      <p:pic>
        <p:nvPicPr>
          <p:cNvPr id="16" name="Picture 15" descr="lamb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441448"/>
            <a:ext cx="725484" cy="48152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3026664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099816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Phong</a:t>
            </a:r>
          </a:p>
        </p:txBody>
      </p:sp>
      <p:pic>
        <p:nvPicPr>
          <p:cNvPr id="19" name="Picture 18" descr="ph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3090672"/>
            <a:ext cx="3630989" cy="54864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77240" y="3675887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49039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Blinn–Phong</a:t>
            </a:r>
          </a:p>
        </p:txBody>
      </p:sp>
      <p:pic>
        <p:nvPicPr>
          <p:cNvPr id="22" name="Picture 21" descr="bli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040" y="3739896"/>
            <a:ext cx="3676451" cy="5486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4325112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98264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Oren–Nayar</a:t>
            </a:r>
          </a:p>
        </p:txBody>
      </p:sp>
      <p:pic>
        <p:nvPicPr>
          <p:cNvPr id="25" name="Picture 24" descr="or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6040" y="4389120"/>
            <a:ext cx="4206240" cy="46306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" y="4974336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47488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Cook–Torrance</a:t>
            </a:r>
          </a:p>
        </p:txBody>
      </p:sp>
      <p:pic>
        <p:nvPicPr>
          <p:cNvPr id="28" name="Picture 27" descr="c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06040" y="5038344"/>
            <a:ext cx="3255106" cy="54864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777240" y="5623560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69671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Subsurface</a:t>
            </a:r>
          </a:p>
        </p:txBody>
      </p:sp>
      <p:pic>
        <p:nvPicPr>
          <p:cNvPr id="31" name="Picture 30" descr="s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6040" y="5687568"/>
            <a:ext cx="3843144" cy="54864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7223760" y="2331720"/>
            <a:ext cx="44805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3760" y="244144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242316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LIGHT SOURCES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2697480"/>
            <a:ext cx="4114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Directional · Point · Spot · Area (4×4 samples)</a:t>
            </a:r>
          </a:p>
        </p:txBody>
      </p:sp>
      <p:pic>
        <p:nvPicPr>
          <p:cNvPr id="36" name="Picture 35" descr="at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6516" y="3017520"/>
            <a:ext cx="2975046" cy="8686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7223760" y="4069080"/>
            <a:ext cx="44805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3760" y="4178808"/>
            <a:ext cx="64008" cy="206654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52360" y="416052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DEFINITIONS USED ABOVE</a:t>
            </a:r>
          </a:p>
        </p:txBody>
      </p:sp>
      <p:pic>
        <p:nvPicPr>
          <p:cNvPr id="40" name="Picture 39" descr="def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40606"/>
            <a:ext cx="3840480" cy="831154"/>
          </a:xfrm>
          <a:prstGeom prst="rect">
            <a:avLst/>
          </a:prstGeom>
        </p:spPr>
      </p:pic>
      <p:pic>
        <p:nvPicPr>
          <p:cNvPr id="41" name="Picture 40" descr="ctdef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5681488"/>
            <a:ext cx="3840480" cy="349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The rendering pipeline: shadows, ambient, tone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711234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22714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8746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96788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282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sp>
        <p:nvSpPr>
          <p:cNvPr id="15" name="Chevron 14"/>
          <p:cNvSpPr/>
          <p:nvPr/>
        </p:nvSpPr>
        <p:spPr>
          <a:xfrm>
            <a:off x="5270862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894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sp>
        <p:nvSpPr>
          <p:cNvPr id="17" name="Chevron 16"/>
          <p:cNvSpPr/>
          <p:nvPr/>
        </p:nvSpPr>
        <p:spPr>
          <a:xfrm>
            <a:off x="6844937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969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sp>
        <p:nvSpPr>
          <p:cNvPr id="19" name="Chevron 18"/>
          <p:cNvSpPr/>
          <p:nvPr/>
        </p:nvSpPr>
        <p:spPr>
          <a:xfrm>
            <a:off x="8419011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5043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sp>
        <p:nvSpPr>
          <p:cNvPr id="21" name="Chevron 20"/>
          <p:cNvSpPr/>
          <p:nvPr/>
        </p:nvSpPr>
        <p:spPr>
          <a:xfrm>
            <a:off x="9993085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9117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1E293B"/>
                </a:solidFill>
                <a:latin typeface="Calibri"/>
              </a:rPr>
              <a:t>store colour, normal, shininess and depth first, then light each pixel once.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80360"/>
            <a:ext cx="630936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990088"/>
            <a:ext cx="64008" cy="1517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7180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CASCADED SHADOW MAPS  (Λ = 0.75, N = 3, N = 0.1 M, R = 100 M)</a:t>
            </a:r>
          </a:p>
        </p:txBody>
      </p:sp>
      <p:pic>
        <p:nvPicPr>
          <p:cNvPr id="27" name="Picture 26" descr="c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920"/>
            <a:ext cx="5669280" cy="59735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77240" y="4014215"/>
            <a:ext cx="594360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Cuts at 9.1, 24.2, 100 m · normal-offset lookup · 8 rotated PCF taps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754880"/>
            <a:ext cx="6309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86460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4632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2" name="Picture 31" descr="f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71" y="5217858"/>
            <a:ext cx="5570296" cy="384733"/>
          </a:xfrm>
          <a:prstGeom prst="rect">
            <a:avLst/>
          </a:prstGeom>
        </p:spPr>
      </p:pic>
      <p:pic>
        <p:nvPicPr>
          <p:cNvPr id="33" name="Picture 32" descr="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94032"/>
            <a:ext cx="5669280" cy="545541"/>
          </a:xfrm>
          <a:prstGeom prst="rect">
            <a:avLst/>
          </a:prstGeom>
        </p:spPr>
      </p:pic>
      <p:pic>
        <p:nvPicPr>
          <p:cNvPr id="34" name="Picture 33" descr="dus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2011680"/>
            <a:ext cx="4572000" cy="257175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5" name="TextBox 34"/>
          <p:cNvSpPr txBox="1"/>
          <p:nvPr/>
        </p:nvSpPr>
        <p:spPr>
          <a:xfrm>
            <a:off x="7178040" y="4638294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086350"/>
            <a:ext cx="4572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FXAA. Ambient = sky diffuse + split-sum specular, times SSAO.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Results, verification and a bug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51560"/>
            <a:ext cx="57607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61288"/>
            <a:ext cx="64008" cy="25694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" y="1097280"/>
          <a:ext cx="5486400" cy="2697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931920"/>
            <a:ext cx="57607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10.9 ms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 (lighting probes)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GpuCheck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0" y="1051560"/>
            <a:ext cx="51206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Bug: a vertical line at night.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Fog sampled the whole sky, so one horizon star streaked a column. Fix: fog uses the smooth atmosphere only.</a:t>
            </a:r>
          </a:p>
        </p:txBody>
      </p:sp>
      <p:pic>
        <p:nvPicPr>
          <p:cNvPr id="15" name="Picture 14" descr="gate_night_b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16" name="Picture 15" descr="gate_n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583680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Before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114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4224528"/>
            <a:ext cx="64008" cy="2020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7548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LIMITS AND 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572000"/>
            <a:ext cx="4754879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Blocky primitive models; no true global illumination; lumpy foliage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Leaf cards, screen-space GI, point-light shadows, multiplayer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Take-away: 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1" name="Picture 10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