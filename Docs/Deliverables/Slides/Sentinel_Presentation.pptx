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1E293B"/>
                </a:solidFill>
              </a:rPr>
              <a:t>GPU time per pass (ms)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GPU ms</c:v>
                </c:pt>
              </c:strCache>
            </c:strRef>
          </c:tx>
          <c:spPr>
            <a:solidFill>
              <a:srgbClr val="0F8F85"/>
            </a:solidFill>
          </c:spPr>
          <c:cat>
            <c:strRef>
              <c:f>Sheet1!$A$2:$A$7</c:f>
              <c:strCache>
                <c:ptCount val="6"/>
                <c:pt idx="0">
                  <c:v>Sky table</c:v>
                </c:pt>
                <c:pt idx="1">
                  <c:v>Post</c:v>
                </c:pt>
                <c:pt idx="2">
                  <c:v>SSAO</c:v>
                </c:pt>
                <c:pt idx="3">
                  <c:v>Shadows</c:v>
                </c:pt>
                <c:pt idx="4">
                  <c:v>Lighting</c:v>
                </c:pt>
                <c:pt idx="5">
                  <c:v>Geometry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0.02</c:v>
                </c:pt>
                <c:pt idx="1">
                  <c:v>1.28</c:v>
                </c:pt>
                <c:pt idx="2">
                  <c:v>1.23</c:v>
                </c:pt>
                <c:pt idx="3">
                  <c:v>1.56</c:v>
                </c:pt>
                <c:pt idx="4">
                  <c:v>2.76</c:v>
                </c:pt>
                <c:pt idx="5">
                  <c:v>4.43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11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3.jpg"/><Relationship Id="rId4" Type="http://schemas.openxmlformats.org/officeDocument/2006/relationships/image" Target="../media/image4.jpg"/><Relationship Id="rId5" Type="http://schemas.openxmlformats.org/officeDocument/2006/relationships/image" Target="../media/image5.jpg"/><Relationship Id="rId6" Type="http://schemas.openxmlformats.org/officeDocument/2006/relationships/image" Target="../media/image6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3.jp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Relationship Id="rId7" Type="http://schemas.openxmlformats.org/officeDocument/2006/relationships/image" Target="../media/image10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3.jpg"/><Relationship Id="rId4" Type="http://schemas.openxmlformats.org/officeDocument/2006/relationships/image" Target="../media/image11.png"/><Relationship Id="rId5" Type="http://schemas.openxmlformats.org/officeDocument/2006/relationships/image" Target="../media/image12.png"/><Relationship Id="rId6" Type="http://schemas.openxmlformats.org/officeDocument/2006/relationships/image" Target="../media/image13.png"/><Relationship Id="rId7" Type="http://schemas.openxmlformats.org/officeDocument/2006/relationships/image" Target="../media/image14.png"/><Relationship Id="rId8" Type="http://schemas.openxmlformats.org/officeDocument/2006/relationships/image" Target="../media/image1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3.jpg"/><Relationship Id="rId4" Type="http://schemas.openxmlformats.org/officeDocument/2006/relationships/image" Target="../media/image16.png"/><Relationship Id="rId5" Type="http://schemas.openxmlformats.org/officeDocument/2006/relationships/image" Target="../media/image17.png"/><Relationship Id="rId6" Type="http://schemas.openxmlformats.org/officeDocument/2006/relationships/image" Target="../media/image18.png"/><Relationship Id="rId7" Type="http://schemas.openxmlformats.org/officeDocument/2006/relationships/image" Target="../media/image19.png"/><Relationship Id="rId8" Type="http://schemas.openxmlformats.org/officeDocument/2006/relationships/image" Target="../media/image20.png"/><Relationship Id="rId9" Type="http://schemas.openxmlformats.org/officeDocument/2006/relationships/image" Target="../media/image21.png"/><Relationship Id="rId10" Type="http://schemas.openxmlformats.org/officeDocument/2006/relationships/image" Target="../media/image22.png"/><Relationship Id="rId11" Type="http://schemas.openxmlformats.org/officeDocument/2006/relationships/image" Target="../media/image23.png"/><Relationship Id="rId12" Type="http://schemas.openxmlformats.org/officeDocument/2006/relationships/image" Target="../media/image24.png"/><Relationship Id="rId13" Type="http://schemas.openxmlformats.org/officeDocument/2006/relationships/image" Target="../media/image2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3.jpg"/><Relationship Id="rId4" Type="http://schemas.openxmlformats.org/officeDocument/2006/relationships/image" Target="../media/image26.png"/><Relationship Id="rId5" Type="http://schemas.openxmlformats.org/officeDocument/2006/relationships/image" Target="../media/image27.png"/><Relationship Id="rId6" Type="http://schemas.openxmlformats.org/officeDocument/2006/relationships/image" Target="../media/image28.png"/><Relationship Id="rId7" Type="http://schemas.openxmlformats.org/officeDocument/2006/relationships/image" Target="../media/image29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3.jpg"/><Relationship Id="rId4" Type="http://schemas.openxmlformats.org/officeDocument/2006/relationships/chart" Target="../charts/chart1.xml"/><Relationship Id="rId5" Type="http://schemas.openxmlformats.org/officeDocument/2006/relationships/image" Target="../media/image30.jpg"/><Relationship Id="rId6" Type="http://schemas.openxmlformats.org/officeDocument/2006/relationships/image" Target="../media/image31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3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3.jpg"/><Relationship Id="rId4" Type="http://schemas.openxmlformats.org/officeDocument/2006/relationships/image" Target="../media/image32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v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685800"/>
            <a:ext cx="96012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C7D2E0"/>
                </a:solidFill>
                <a:latin typeface="Calibri"/>
              </a:rPr>
              <a:t>KHULNA UNIVERSITY OF ENGINEERING &amp; TECHNOLOGY   ·   CSE 4102</a:t>
            </a:r>
          </a:p>
        </p:txBody>
      </p:sp>
      <p:sp>
        <p:nvSpPr>
          <p:cNvPr id="4" name="Rectangle 3"/>
          <p:cNvSpPr/>
          <p:nvPr/>
        </p:nvSpPr>
        <p:spPr>
          <a:xfrm>
            <a:off x="960120" y="1143000"/>
            <a:ext cx="82296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417320"/>
            <a:ext cx="10058400" cy="1463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8800" b="1" i="0">
                <a:solidFill>
                  <a:srgbClr val="FFFFFF"/>
                </a:solidFill>
                <a:latin typeface="Georgia"/>
              </a:rPr>
              <a:t>Sentinel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926080"/>
            <a:ext cx="10058400" cy="10972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0" i="0">
                <a:solidFill>
                  <a:srgbClr val="E6FBF8"/>
                </a:solidFill>
                <a:latin typeface="Calibri"/>
              </a:rPr>
              <a:t>A Fully Procedural Game Engine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0" i="0">
                <a:solidFill>
                  <a:srgbClr val="E6FBF8"/>
                </a:solidFill>
                <a:latin typeface="Calibri"/>
              </a:rPr>
              <a:t>and Open-World Military Shooter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160520"/>
            <a:ext cx="8229600" cy="8229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0" i="1">
                <a:solidFill>
                  <a:srgbClr val="2DD4BF"/>
                </a:solidFill>
                <a:latin typeface="Calibri"/>
              </a:rPr>
              <a:t>Nothing is loaded from a model, image or sound file: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0" i="1">
                <a:solidFill>
                  <a:srgbClr val="2DD4BF"/>
                </a:solidFill>
                <a:latin typeface="Calibri"/>
              </a:rPr>
              <a:t>everything is generated from code and a seed.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5897880"/>
            <a:ext cx="5029200" cy="7315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900" b="1" i="0">
                <a:solidFill>
                  <a:srgbClr val="FFFFFF"/>
                </a:solidFill>
                <a:latin typeface="Calibri"/>
              </a:rPr>
              <a:t>Md. Shifat Hasan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300" b="0" i="0">
                <a:solidFill>
                  <a:srgbClr val="C7D2E0"/>
                </a:solidFill>
                <a:latin typeface="Calibri"/>
              </a:rPr>
              <a:t>Roll 2107067  ·  4th Year 1st Term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5897880"/>
            <a:ext cx="5486400" cy="7315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00000"/>
              </a:lnSpc>
              <a:spcAft>
                <a:spcPts val="100"/>
              </a:spcAft>
            </a:pPr>
            <a:r>
              <a:rPr sz="1300" b="0" i="0">
                <a:solidFill>
                  <a:srgbClr val="C7D2E0"/>
                </a:solidFill>
                <a:latin typeface="Calibri"/>
              </a:rPr>
              <a:t>Instructors: Md Tajmilur Rahman, Md. Mubtashim Abrar Nihal</a:t>
            </a:r>
          </a:p>
          <a:p>
            <a:pPr algn="r">
              <a:lnSpc>
                <a:spcPct val="100000"/>
              </a:lnSpc>
              <a:spcAft>
                <a:spcPts val="100"/>
              </a:spcAft>
            </a:pPr>
            <a:r>
              <a:rPr sz="1300" b="0" i="0">
                <a:solidFill>
                  <a:srgbClr val="C7D2E0"/>
                </a:solidFill>
                <a:latin typeface="Calibri"/>
              </a:rPr>
              <a:t>Computer Graphics and Image Processing Laboratory  ·  October 7,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nten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head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86868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868680"/>
            <a:ext cx="12191695" cy="41148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274320"/>
            <a:ext cx="91440" cy="34747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18872"/>
            <a:ext cx="10515600" cy="6400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Georgia"/>
              </a:rPr>
              <a:t>Outline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00" b="0" i="0">
                <a:solidFill>
                  <a:srgbClr val="64748B"/>
                </a:solidFill>
                <a:latin typeface="Calibri"/>
              </a:rPr>
              <a:t>Sentinel  ·  CSE 4102  ·  KUET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4748B"/>
                </a:solidFill>
                <a:latin typeface="Calibri"/>
              </a:rPr>
              <a:t>2 / 10</a:t>
            </a:r>
          </a:p>
        </p:txBody>
      </p:sp>
      <p:sp>
        <p:nvSpPr>
          <p:cNvPr id="9" name="Oval 8"/>
          <p:cNvSpPr/>
          <p:nvPr/>
        </p:nvSpPr>
        <p:spPr>
          <a:xfrm>
            <a:off x="640080" y="1280160"/>
            <a:ext cx="475488" cy="475488"/>
          </a:xfrm>
          <a:prstGeom prst="ellipse">
            <a:avLst/>
          </a:prstGeom>
          <a:solidFill>
            <a:srgbClr val="0F8F85"/>
          </a:solidFill>
          <a:ln>
            <a:noFill/>
          </a:ln>
          <a:effectLst>
            <a:outerShdw blurRad="114300" dist="25400" dir="5400000" algn="t" rotWithShape="0">
              <a:srgbClr val="0B122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280160"/>
            <a:ext cx="475488" cy="4754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25880" y="1280160"/>
            <a:ext cx="5852160" cy="4754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100" b="0" i="0">
                <a:solidFill>
                  <a:srgbClr val="1E293B"/>
                </a:solidFill>
                <a:latin typeface="Calibri"/>
              </a:rPr>
              <a:t>Problem, objectives and architecture</a:t>
            </a:r>
          </a:p>
        </p:txBody>
      </p:sp>
      <p:sp>
        <p:nvSpPr>
          <p:cNvPr id="12" name="Oval 11"/>
          <p:cNvSpPr/>
          <p:nvPr/>
        </p:nvSpPr>
        <p:spPr>
          <a:xfrm>
            <a:off x="640080" y="2002536"/>
            <a:ext cx="475488" cy="475488"/>
          </a:xfrm>
          <a:prstGeom prst="ellipse">
            <a:avLst/>
          </a:prstGeom>
          <a:solidFill>
            <a:srgbClr val="0F8F85"/>
          </a:solidFill>
          <a:ln>
            <a:noFill/>
          </a:ln>
          <a:effectLst>
            <a:outerShdw blurRad="114300" dist="25400" dir="5400000" algn="t" rotWithShape="0">
              <a:srgbClr val="0B122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2002536"/>
            <a:ext cx="475488" cy="4754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25880" y="2002536"/>
            <a:ext cx="5852160" cy="4754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100" b="0" i="0">
                <a:solidFill>
                  <a:srgbClr val="1E293B"/>
                </a:solidFill>
                <a:latin typeface="Calibri"/>
              </a:rPr>
              <a:t>Procedural shapes and textures</a:t>
            </a:r>
          </a:p>
        </p:txBody>
      </p:sp>
      <p:sp>
        <p:nvSpPr>
          <p:cNvPr id="15" name="Oval 14"/>
          <p:cNvSpPr/>
          <p:nvPr/>
        </p:nvSpPr>
        <p:spPr>
          <a:xfrm>
            <a:off x="640080" y="2724912"/>
            <a:ext cx="475488" cy="475488"/>
          </a:xfrm>
          <a:prstGeom prst="ellipse">
            <a:avLst/>
          </a:prstGeom>
          <a:solidFill>
            <a:srgbClr val="0F8F85"/>
          </a:solidFill>
          <a:ln>
            <a:noFill/>
          </a:ln>
          <a:effectLst>
            <a:outerShdw blurRad="114300" dist="25400" dir="5400000" algn="t" rotWithShape="0">
              <a:srgbClr val="0B122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2724912"/>
            <a:ext cx="475488" cy="4754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2724912"/>
            <a:ext cx="5852160" cy="4754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100" b="0" i="0">
                <a:solidFill>
                  <a:srgbClr val="1E293B"/>
                </a:solidFill>
                <a:latin typeface="Calibri"/>
              </a:rPr>
              <a:t>Transformations: creating and combining objects</a:t>
            </a:r>
          </a:p>
        </p:txBody>
      </p:sp>
      <p:sp>
        <p:nvSpPr>
          <p:cNvPr id="18" name="Oval 17"/>
          <p:cNvSpPr/>
          <p:nvPr/>
        </p:nvSpPr>
        <p:spPr>
          <a:xfrm>
            <a:off x="640080" y="3447288"/>
            <a:ext cx="475488" cy="475488"/>
          </a:xfrm>
          <a:prstGeom prst="ellipse">
            <a:avLst/>
          </a:prstGeom>
          <a:solidFill>
            <a:srgbClr val="0F8F85"/>
          </a:solidFill>
          <a:ln>
            <a:noFill/>
          </a:ln>
          <a:effectLst>
            <a:outerShdw blurRad="114300" dist="25400" dir="5400000" algn="t" rotWithShape="0">
              <a:srgbClr val="0B122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3447288"/>
            <a:ext cx="475488" cy="4754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25880" y="3447288"/>
            <a:ext cx="5852160" cy="4754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100" b="0" i="0">
                <a:solidFill>
                  <a:srgbClr val="1E293B"/>
                </a:solidFill>
                <a:latin typeface="Calibri"/>
              </a:rPr>
              <a:t>Illumination models and light sources</a:t>
            </a:r>
          </a:p>
        </p:txBody>
      </p:sp>
      <p:sp>
        <p:nvSpPr>
          <p:cNvPr id="21" name="Oval 20"/>
          <p:cNvSpPr/>
          <p:nvPr/>
        </p:nvSpPr>
        <p:spPr>
          <a:xfrm>
            <a:off x="640080" y="4169664"/>
            <a:ext cx="475488" cy="475488"/>
          </a:xfrm>
          <a:prstGeom prst="ellipse">
            <a:avLst/>
          </a:prstGeom>
          <a:solidFill>
            <a:srgbClr val="0F8F85"/>
          </a:solidFill>
          <a:ln>
            <a:noFill/>
          </a:ln>
          <a:effectLst>
            <a:outerShdw blurRad="114300" dist="25400" dir="5400000" algn="t" rotWithShape="0">
              <a:srgbClr val="0B122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4169664"/>
            <a:ext cx="475488" cy="4754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25880" y="4169664"/>
            <a:ext cx="5852160" cy="4754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100" b="0" i="0">
                <a:solidFill>
                  <a:srgbClr val="1E293B"/>
                </a:solidFill>
                <a:latin typeface="Calibri"/>
              </a:rPr>
              <a:t>The rendering pipeline: shadows, ambient, tone map</a:t>
            </a:r>
          </a:p>
        </p:txBody>
      </p:sp>
      <p:sp>
        <p:nvSpPr>
          <p:cNvPr id="24" name="Oval 23"/>
          <p:cNvSpPr/>
          <p:nvPr/>
        </p:nvSpPr>
        <p:spPr>
          <a:xfrm>
            <a:off x="640080" y="4892040"/>
            <a:ext cx="475488" cy="475488"/>
          </a:xfrm>
          <a:prstGeom prst="ellipse">
            <a:avLst/>
          </a:prstGeom>
          <a:solidFill>
            <a:srgbClr val="0F8F85"/>
          </a:solidFill>
          <a:ln>
            <a:noFill/>
          </a:ln>
          <a:effectLst>
            <a:outerShdw blurRad="114300" dist="25400" dir="5400000" algn="t" rotWithShape="0">
              <a:srgbClr val="0B122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4892040"/>
            <a:ext cx="475488" cy="4754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25880" y="4892040"/>
            <a:ext cx="5852160" cy="4754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100" b="0" i="0">
                <a:solidFill>
                  <a:srgbClr val="1E293B"/>
                </a:solidFill>
                <a:latin typeface="Calibri"/>
              </a:rPr>
              <a:t>Results, verification and a bug fixed</a:t>
            </a:r>
          </a:p>
        </p:txBody>
      </p:sp>
      <p:sp>
        <p:nvSpPr>
          <p:cNvPr id="27" name="Oval 26"/>
          <p:cNvSpPr/>
          <p:nvPr/>
        </p:nvSpPr>
        <p:spPr>
          <a:xfrm>
            <a:off x="640080" y="5614416"/>
            <a:ext cx="475488" cy="475488"/>
          </a:xfrm>
          <a:prstGeom prst="ellipse">
            <a:avLst/>
          </a:prstGeom>
          <a:solidFill>
            <a:srgbClr val="0F8F85"/>
          </a:solidFill>
          <a:ln>
            <a:noFill/>
          </a:ln>
          <a:effectLst>
            <a:outerShdw blurRad="114300" dist="25400" dir="5400000" algn="t" rotWithShape="0">
              <a:srgbClr val="0B122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5614416"/>
            <a:ext cx="475488" cy="4754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25880" y="5614416"/>
            <a:ext cx="5852160" cy="4754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100" b="0" i="0">
                <a:solidFill>
                  <a:srgbClr val="1E293B"/>
                </a:solidFill>
                <a:latin typeface="Calibri"/>
              </a:rPr>
              <a:t>Video tour of the project</a:t>
            </a:r>
          </a:p>
        </p:txBody>
      </p:sp>
      <p:pic>
        <p:nvPicPr>
          <p:cNvPr id="30" name="Picture 29" descr="models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0" y="1600200"/>
            <a:ext cx="4389120" cy="750770"/>
          </a:xfrm>
          <a:prstGeom prst="rect">
            <a:avLst/>
          </a:prstGeom>
          <a:ln w="28575">
            <a:solidFill>
              <a:srgbClr val="FFFFFF"/>
            </a:solidFill>
          </a:ln>
          <a:effectLst>
            <a:outerShdw blurRad="127000" dist="38100" dir="5400000" algn="t" rotWithShape="0">
              <a:srgbClr val="0B1220">
                <a:alpha val="24000"/>
              </a:srgbClr>
            </a:outerShdw>
          </a:effectLst>
        </p:spPr>
      </p:pic>
      <p:sp>
        <p:nvSpPr>
          <p:cNvPr id="31" name="TextBox 30"/>
          <p:cNvSpPr txBox="1"/>
          <p:nvPr/>
        </p:nvSpPr>
        <p:spPr>
          <a:xfrm>
            <a:off x="7315200" y="2424122"/>
            <a:ext cx="43891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1">
                <a:solidFill>
                  <a:srgbClr val="64748B"/>
                </a:solidFill>
                <a:latin typeface="Calibri"/>
              </a:rPr>
              <a:t>Six illumination models, one sphere each</a:t>
            </a:r>
          </a:p>
        </p:txBody>
      </p:sp>
      <p:pic>
        <p:nvPicPr>
          <p:cNvPr id="32" name="Picture 31" descr="tank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0" y="2853890"/>
            <a:ext cx="2103120" cy="1183005"/>
          </a:xfrm>
          <a:prstGeom prst="rect">
            <a:avLst/>
          </a:prstGeom>
          <a:ln w="28575">
            <a:solidFill>
              <a:srgbClr val="FFFFFF"/>
            </a:solidFill>
          </a:ln>
          <a:effectLst>
            <a:outerShdw blurRad="127000" dist="38100" dir="5400000" algn="t" rotWithShape="0">
              <a:srgbClr val="0B1220">
                <a:alpha val="24000"/>
              </a:srgbClr>
            </a:outerShdw>
          </a:effectLst>
        </p:spPr>
      </p:pic>
      <p:pic>
        <p:nvPicPr>
          <p:cNvPr id="33" name="Picture 32" descr="truck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01200" y="2853890"/>
            <a:ext cx="2103120" cy="1183005"/>
          </a:xfrm>
          <a:prstGeom prst="rect">
            <a:avLst/>
          </a:prstGeom>
          <a:ln w="28575">
            <a:solidFill>
              <a:srgbClr val="FFFFFF"/>
            </a:solidFill>
          </a:ln>
          <a:effectLst>
            <a:outerShdw blurRad="127000" dist="38100" dir="5400000" algn="t" rotWithShape="0">
              <a:srgbClr val="0B1220">
                <a:alpha val="24000"/>
              </a:srgbClr>
            </a:outerShdw>
          </a:effectLst>
        </p:spPr>
      </p:pic>
      <p:sp>
        <p:nvSpPr>
          <p:cNvPr id="34" name="TextBox 33"/>
          <p:cNvSpPr txBox="1"/>
          <p:nvPr/>
        </p:nvSpPr>
        <p:spPr>
          <a:xfrm>
            <a:off x="7315200" y="4110047"/>
            <a:ext cx="43891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1">
                <a:solidFill>
                  <a:srgbClr val="64748B"/>
                </a:solidFill>
                <a:latin typeface="Calibri"/>
              </a:rPr>
              <a:t>Objects are transformed primitives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nten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head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86868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868680"/>
            <a:ext cx="12191695" cy="41148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274320"/>
            <a:ext cx="91440" cy="34747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18872"/>
            <a:ext cx="10515600" cy="6400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Georgia"/>
              </a:rPr>
              <a:t>1. Problem, objectives and architecture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00" b="0" i="0">
                <a:solidFill>
                  <a:srgbClr val="64748B"/>
                </a:solidFill>
                <a:latin typeface="Calibri"/>
              </a:rPr>
              <a:t>Sentinel  ·  CSE 4102  ·  KUET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4748B"/>
                </a:solidFill>
                <a:latin typeface="Calibri"/>
              </a:rPr>
              <a:t>3 / 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51560"/>
            <a:ext cx="6035040" cy="8686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100" b="1" i="0">
                <a:solidFill>
                  <a:srgbClr val="1E293B"/>
                </a:solidFill>
                <a:latin typeface="Calibri"/>
              </a:rPr>
              <a:t>Can a complete, playable 3D game be made by code alone on a student laptop?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965960"/>
            <a:ext cx="6035040" cy="12344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DE5EE"/>
            </a:solidFill>
          </a:ln>
          <a:effectLst>
            <a:outerShdw blurRad="114300" dist="25400" dir="5400000" algn="t" rotWithShape="0">
              <a:srgbClr val="0B122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2075688"/>
            <a:ext cx="64008" cy="1014984"/>
          </a:xfrm>
          <a:prstGeom prst="rect">
            <a:avLst/>
          </a:prstGeom>
          <a:solidFill>
            <a:srgbClr val="0F8F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057400"/>
            <a:ext cx="5669279" cy="34747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0F8F85"/>
                </a:solidFill>
                <a:latin typeface="Calibri"/>
              </a:rPr>
              <a:t>TWO HARD LIMITS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423160"/>
            <a:ext cx="5669279" cy="70408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 marL="274320" indent="-274320">
              <a:lnSpc>
                <a:spcPct val="100000"/>
              </a:lnSpc>
              <a:spcAft>
                <a:spcPts val="300"/>
              </a:spcAft>
              <a:buClr>
                <a:srgbClr val="0F8F85"/>
              </a:buClr>
              <a:buChar char="▪"/>
            </a:pPr>
            <a:r>
              <a:rPr sz="1700" b="0" i="0">
                <a:solidFill>
                  <a:srgbClr val="1E293B"/>
                </a:solidFill>
                <a:latin typeface="Calibri"/>
              </a:rPr>
              <a:t>No model, image or precomputed data file</a:t>
            </a:r>
          </a:p>
          <a:p>
            <a:pPr algn="l" marL="274320" indent="-274320">
              <a:lnSpc>
                <a:spcPct val="100000"/>
              </a:lnSpc>
              <a:spcAft>
                <a:spcPts val="300"/>
              </a:spcAft>
              <a:buClr>
                <a:srgbClr val="0F8F85"/>
              </a:buClr>
              <a:buChar char="▪"/>
            </a:pPr>
            <a:r>
              <a:rPr sz="1700" b="0" i="0">
                <a:solidFill>
                  <a:srgbClr val="1E293B"/>
                </a:solidFill>
                <a:latin typeface="Calibri"/>
              </a:rPr>
              <a:t>macOS OpenGL 4.1: no compute shaders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337560"/>
            <a:ext cx="60350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DE5EE"/>
            </a:solidFill>
          </a:ln>
          <a:effectLst>
            <a:outerShdw blurRad="114300" dist="25400" dir="5400000" algn="t" rotWithShape="0">
              <a:srgbClr val="0B122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3447288"/>
            <a:ext cx="64008" cy="1609344"/>
          </a:xfrm>
          <a:prstGeom prst="rect">
            <a:avLst/>
          </a:prstGeom>
          <a:solidFill>
            <a:srgbClr val="0F8F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3429000"/>
            <a:ext cx="5669279" cy="34747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0F8F85"/>
                </a:solidFill>
                <a:latin typeface="Calibri"/>
              </a:rPr>
              <a:t>OBJECTIVES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3794760"/>
            <a:ext cx="5669279" cy="129844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 marL="274320" indent="-274320">
              <a:lnSpc>
                <a:spcPct val="100000"/>
              </a:lnSpc>
              <a:spcAft>
                <a:spcPts val="300"/>
              </a:spcAft>
              <a:buClr>
                <a:srgbClr val="0F8F85"/>
              </a:buClr>
              <a:buChar char="▪"/>
            </a:pPr>
            <a:r>
              <a:rPr sz="1600" b="0" i="0">
                <a:solidFill>
                  <a:srgbClr val="1E293B"/>
                </a:solidFill>
                <a:latin typeface="Calibri"/>
              </a:rPr>
              <a:t>Layered engine, downward dependencies</a:t>
            </a:r>
          </a:p>
          <a:p>
            <a:pPr algn="l" marL="274320" indent="-274320">
              <a:lnSpc>
                <a:spcPct val="100000"/>
              </a:lnSpc>
              <a:spcAft>
                <a:spcPts val="300"/>
              </a:spcAft>
              <a:buClr>
                <a:srgbClr val="0F8F85"/>
              </a:buClr>
              <a:buChar char="▪"/>
            </a:pPr>
            <a:r>
              <a:rPr sz="1600" b="0" i="0">
                <a:solidFill>
                  <a:srgbClr val="1E293B"/>
                </a:solidFill>
                <a:latin typeface="Calibri"/>
              </a:rPr>
              <a:t>All content from code and seeds</a:t>
            </a:r>
          </a:p>
          <a:p>
            <a:pPr algn="l" marL="274320" indent="-274320">
              <a:lnSpc>
                <a:spcPct val="100000"/>
              </a:lnSpc>
              <a:spcAft>
                <a:spcPts val="300"/>
              </a:spcAft>
              <a:buClr>
                <a:srgbClr val="0F8F85"/>
              </a:buClr>
              <a:buChar char="▪"/>
            </a:pPr>
            <a:r>
              <a:rPr sz="1600" b="0" i="0">
                <a:solidFill>
                  <a:srgbClr val="1E293B"/>
                </a:solidFill>
                <a:latin typeface="Calibri"/>
              </a:rPr>
              <a:t>Modern renderer and a playable game</a:t>
            </a:r>
          </a:p>
          <a:p>
            <a:pPr algn="l" marL="274320" indent="-274320">
              <a:lnSpc>
                <a:spcPct val="100000"/>
              </a:lnSpc>
              <a:spcAft>
                <a:spcPts val="300"/>
              </a:spcAft>
              <a:buClr>
                <a:srgbClr val="0F8F85"/>
              </a:buClr>
              <a:buChar char="▪"/>
            </a:pPr>
            <a:r>
              <a:rPr sz="1600" b="0" i="0">
                <a:solidFill>
                  <a:srgbClr val="1E293B"/>
                </a:solidFill>
                <a:latin typeface="Calibri"/>
              </a:rPr>
              <a:t>Verified by tests and a 16.7 ms budget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5303520"/>
            <a:ext cx="11155680" cy="960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DE5EE"/>
            </a:solidFill>
          </a:ln>
          <a:effectLst>
            <a:outerShdw blurRad="114300" dist="25400" dir="5400000" algn="t" rotWithShape="0">
              <a:srgbClr val="0B122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5413248"/>
            <a:ext cx="64008" cy="7406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5376672"/>
            <a:ext cx="10698480" cy="8229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0F8F85"/>
                </a:solidFill>
                <a:latin typeface="Calibri"/>
              </a:rPr>
              <a:t>The game: </a:t>
            </a:r>
            <a:r>
              <a:rPr sz="1600" b="0" i="0">
                <a:solidFill>
                  <a:srgbClr val="1E293B"/>
                </a:solidFill>
                <a:latin typeface="Calibri"/>
              </a:rPr>
              <a:t>jeep, truck, carrier, tank and a helicopter you can drive; ladders and doors; stealth enemies; a five-objective mission (hack, destroy, rescue, extract); all sounds synthesised.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040880" y="1097280"/>
            <a:ext cx="4206240" cy="566928"/>
          </a:xfrm>
          <a:prstGeom prst="roundRect">
            <a:avLst>
              <a:gd name="adj" fmla="val 12000"/>
            </a:avLst>
          </a:prstGeom>
          <a:solidFill>
            <a:srgbClr val="E8F7F4"/>
          </a:solidFill>
          <a:ln w="9525">
            <a:solidFill>
              <a:srgbClr val="0F8F85"/>
            </a:solidFill>
          </a:ln>
          <a:effectLst>
            <a:outerShdw blurRad="114300" dist="25400" dir="5400000" algn="t" rotWithShape="0">
              <a:srgbClr val="0B122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178040" y="1097280"/>
            <a:ext cx="4023360" cy="56692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F8F85"/>
                </a:solidFill>
                <a:latin typeface="Calibri"/>
              </a:rPr>
              <a:t>Game  </a:t>
            </a:r>
            <a:r>
              <a:rPr sz="1500" b="0" i="0">
                <a:solidFill>
                  <a:srgbClr val="1E293B"/>
                </a:solidFill>
                <a:latin typeface="Calibri"/>
              </a:rPr>
              <a:t>mission, AI, vehicles, sound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040880" y="1737360"/>
            <a:ext cx="4206240" cy="566928"/>
          </a:xfrm>
          <a:prstGeom prst="roundRect">
            <a:avLst>
              <a:gd name="adj" fmla="val 12000"/>
            </a:avLst>
          </a:prstGeom>
          <a:solidFill>
            <a:srgbClr val="DAEEEC"/>
          </a:solidFill>
          <a:ln w="9525">
            <a:solidFill>
              <a:srgbClr val="0F8F85"/>
            </a:solidFill>
          </a:ln>
          <a:effectLst>
            <a:outerShdw blurRad="114300" dist="25400" dir="5400000" algn="t" rotWithShape="0">
              <a:srgbClr val="0B122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78040" y="1737360"/>
            <a:ext cx="4023360" cy="56692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F8F85"/>
                </a:solidFill>
                <a:latin typeface="Calibri"/>
              </a:rPr>
              <a:t>Render  </a:t>
            </a:r>
            <a:r>
              <a:rPr sz="1500" b="0" i="0">
                <a:solidFill>
                  <a:srgbClr val="1E293B"/>
                </a:solidFill>
                <a:latin typeface="Calibri"/>
              </a:rPr>
              <a:t>deferred, lights, sky, post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040880" y="2377439"/>
            <a:ext cx="4206240" cy="566928"/>
          </a:xfrm>
          <a:prstGeom prst="roundRect">
            <a:avLst>
              <a:gd name="adj" fmla="val 12000"/>
            </a:avLst>
          </a:prstGeom>
          <a:solidFill>
            <a:srgbClr val="CCE5E4"/>
          </a:solidFill>
          <a:ln w="9525">
            <a:solidFill>
              <a:srgbClr val="0F8F85"/>
            </a:solidFill>
          </a:ln>
          <a:effectLst>
            <a:outerShdw blurRad="114300" dist="25400" dir="5400000" algn="t" rotWithShape="0">
              <a:srgbClr val="0B122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178040" y="2377439"/>
            <a:ext cx="4023360" cy="56692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F8F85"/>
                </a:solidFill>
                <a:latin typeface="Calibri"/>
              </a:rPr>
              <a:t>World  </a:t>
            </a:r>
            <a:r>
              <a:rPr sz="1500" b="0" i="0">
                <a:solidFill>
                  <a:srgbClr val="1E293B"/>
                </a:solidFill>
                <a:latin typeface="Calibri"/>
              </a:rPr>
              <a:t>collision, terrain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040880" y="3017520"/>
            <a:ext cx="4206240" cy="566928"/>
          </a:xfrm>
          <a:prstGeom prst="roundRect">
            <a:avLst>
              <a:gd name="adj" fmla="val 12000"/>
            </a:avLst>
          </a:prstGeom>
          <a:solidFill>
            <a:srgbClr val="BEDCDC"/>
          </a:solidFill>
          <a:ln w="9525">
            <a:solidFill>
              <a:srgbClr val="0F8F85"/>
            </a:solidFill>
          </a:ln>
          <a:effectLst>
            <a:outerShdw blurRad="114300" dist="25400" dir="5400000" algn="t" rotWithShape="0">
              <a:srgbClr val="0B122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178040" y="3017520"/>
            <a:ext cx="4023360" cy="56692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F8F85"/>
                </a:solidFill>
                <a:latin typeface="Calibri"/>
              </a:rPr>
              <a:t>Procedural  </a:t>
            </a:r>
            <a:r>
              <a:rPr sz="1500" b="0" i="0">
                <a:solidFill>
                  <a:srgbClr val="1E293B"/>
                </a:solidFill>
                <a:latin typeface="Calibri"/>
              </a:rPr>
              <a:t>noise, textures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040880" y="3657600"/>
            <a:ext cx="4206240" cy="566928"/>
          </a:xfrm>
          <a:prstGeom prst="roundRect">
            <a:avLst>
              <a:gd name="adj" fmla="val 12000"/>
            </a:avLst>
          </a:prstGeom>
          <a:solidFill>
            <a:srgbClr val="B0D3D4"/>
          </a:solidFill>
          <a:ln w="9525">
            <a:solidFill>
              <a:srgbClr val="0F8F85"/>
            </a:solidFill>
          </a:ln>
          <a:effectLst>
            <a:outerShdw blurRad="114300" dist="25400" dir="5400000" algn="t" rotWithShape="0">
              <a:srgbClr val="0B122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178040" y="3657600"/>
            <a:ext cx="4023360" cy="56692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F8F85"/>
                </a:solidFill>
                <a:latin typeface="Calibri"/>
              </a:rPr>
              <a:t>GPU  </a:t>
            </a:r>
            <a:r>
              <a:rPr sz="1500" b="0" i="0">
                <a:solidFill>
                  <a:srgbClr val="1E293B"/>
                </a:solidFill>
                <a:latin typeface="Calibri"/>
              </a:rPr>
              <a:t>shaders, buffers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040880" y="4297680"/>
            <a:ext cx="4206240" cy="566928"/>
          </a:xfrm>
          <a:prstGeom prst="roundRect">
            <a:avLst>
              <a:gd name="adj" fmla="val 12000"/>
            </a:avLst>
          </a:prstGeom>
          <a:solidFill>
            <a:srgbClr val="A2CACC"/>
          </a:solidFill>
          <a:ln w="9525">
            <a:solidFill>
              <a:srgbClr val="0F8F85"/>
            </a:solidFill>
          </a:ln>
          <a:effectLst>
            <a:outerShdw blurRad="114300" dist="25400" dir="5400000" algn="t" rotWithShape="0">
              <a:srgbClr val="0B122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178040" y="4297680"/>
            <a:ext cx="4023360" cy="56692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F8F85"/>
                </a:solidFill>
                <a:latin typeface="Calibri"/>
              </a:rPr>
              <a:t>Platform  </a:t>
            </a:r>
            <a:r>
              <a:rPr sz="1500" b="0" i="0">
                <a:solidFill>
                  <a:srgbClr val="1E293B"/>
                </a:solidFill>
                <a:latin typeface="Calibri"/>
              </a:rPr>
              <a:t>window, input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11521440" y="1143000"/>
            <a:ext cx="0" cy="3611880"/>
          </a:xfrm>
          <a:prstGeom prst="line">
            <a:avLst/>
          </a:prstGeom>
          <a:ln w="25400">
            <a:solidFill>
              <a:srgbClr val="0F8F8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6858000" y="4919472"/>
            <a:ext cx="475488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0" i="1">
                <a:solidFill>
                  <a:srgbClr val="64748B"/>
                </a:solidFill>
                <a:latin typeface="Calibri"/>
              </a:rPr>
              <a:t>A lower layer never knows a higher one.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nten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head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86868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868680"/>
            <a:ext cx="12191695" cy="41148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274320"/>
            <a:ext cx="91440" cy="34747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18872"/>
            <a:ext cx="10515600" cy="6400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Georgia"/>
              </a:rPr>
              <a:t>2. Procedural shapes and textures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00" b="0" i="0">
                <a:solidFill>
                  <a:srgbClr val="64748B"/>
                </a:solidFill>
                <a:latin typeface="Calibri"/>
              </a:rPr>
              <a:t>Sentinel  ·  CSE 4102  ·  KUET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4748B"/>
                </a:solidFill>
                <a:latin typeface="Calibri"/>
              </a:rPr>
              <a:t>4 / 10</a:t>
            </a:r>
          </a:p>
        </p:txBody>
      </p:sp>
      <p:pic>
        <p:nvPicPr>
          <p:cNvPr id="9" name="Picture 8" descr="noise_stage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1051560"/>
            <a:ext cx="5486400" cy="1077084"/>
          </a:xfrm>
          <a:prstGeom prst="rect">
            <a:avLst/>
          </a:prstGeom>
          <a:effectLst>
            <a:outerShdw blurRad="127000" dist="38100" dir="5400000" algn="t" rotWithShape="0">
              <a:srgbClr val="0B1220">
                <a:alpha val="24000"/>
              </a:srgbClr>
            </a:outerShdw>
          </a:effectLst>
        </p:spPr>
      </p:pic>
      <p:sp>
        <p:nvSpPr>
          <p:cNvPr id="10" name="TextBox 9"/>
          <p:cNvSpPr txBox="1"/>
          <p:nvPr/>
        </p:nvSpPr>
        <p:spPr>
          <a:xfrm>
            <a:off x="548640" y="2156076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1">
                <a:solidFill>
                  <a:srgbClr val="64748B"/>
                </a:solidFill>
                <a:latin typeface="Calibri"/>
              </a:rPr>
              <a:t>gradient, fractal, warped, ridged and cellular noise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540124"/>
            <a:ext cx="5486400" cy="23317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DE5EE"/>
            </a:solidFill>
          </a:ln>
          <a:effectLst>
            <a:outerShdw blurRad="114300" dist="25400" dir="5400000" algn="t" rotWithShape="0">
              <a:srgbClr val="0B122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2649852"/>
            <a:ext cx="64008" cy="2112263"/>
          </a:xfrm>
          <a:prstGeom prst="rect">
            <a:avLst/>
          </a:prstGeom>
          <a:solidFill>
            <a:srgbClr val="0F8F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2631564"/>
            <a:ext cx="5120640" cy="34747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0F8F85"/>
                </a:solidFill>
                <a:latin typeface="Calibri"/>
              </a:rPr>
              <a:t>FRACTAL NOISE (TILES EXACTLY)</a:t>
            </a:r>
          </a:p>
        </p:txBody>
      </p:sp>
      <p:pic>
        <p:nvPicPr>
          <p:cNvPr id="14" name="Picture 13" descr="fracta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34574" y="2951604"/>
            <a:ext cx="2514530" cy="1810511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548640" y="5009004"/>
            <a:ext cx="5486400" cy="1346075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DE5EE"/>
            </a:solidFill>
          </a:ln>
          <a:effectLst>
            <a:outerShdw blurRad="114300" dist="25400" dir="5400000" algn="t" rotWithShape="0">
              <a:srgbClr val="0B122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" y="5118732"/>
            <a:ext cx="64008" cy="1126619"/>
          </a:xfrm>
          <a:prstGeom prst="rect">
            <a:avLst/>
          </a:prstGeom>
          <a:solidFill>
            <a:srgbClr val="0F8F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5100444"/>
            <a:ext cx="5120640" cy="34747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0F8F85"/>
                </a:solidFill>
                <a:latin typeface="Calibri"/>
              </a:rPr>
              <a:t>VERTEX PUSH BY A NOISE DEFORMER</a:t>
            </a:r>
          </a:p>
        </p:txBody>
      </p:sp>
      <p:pic>
        <p:nvPicPr>
          <p:cNvPr id="18" name="Picture 17" descr="push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8680" y="5706417"/>
            <a:ext cx="4846320" cy="253001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355080" y="1097280"/>
            <a:ext cx="5349240" cy="30175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 marL="274320" indent="-274320">
              <a:lnSpc>
                <a:spcPct val="100000"/>
              </a:lnSpc>
              <a:spcAft>
                <a:spcPts val="900"/>
              </a:spcAft>
              <a:buClr>
                <a:srgbClr val="0F8F85"/>
              </a:buClr>
              <a:buChar char="▪"/>
            </a:pPr>
            <a:r>
              <a:rPr sz="1900" b="0" i="0">
                <a:solidFill>
                  <a:srgbClr val="1E293B"/>
                </a:solidFill>
                <a:latin typeface="Calibri"/>
              </a:rPr>
              <a:t>18 recipes → 22 materials, baked once at 1024²</a:t>
            </a:r>
          </a:p>
          <a:p>
            <a:pPr algn="l" marL="274320" indent="-274320">
              <a:lnSpc>
                <a:spcPct val="100000"/>
              </a:lnSpc>
              <a:spcAft>
                <a:spcPts val="900"/>
              </a:spcAft>
              <a:buClr>
                <a:srgbClr val="0F8F85"/>
              </a:buClr>
              <a:buChar char="▪"/>
            </a:pPr>
            <a:r>
              <a:rPr sz="1900" b="0" i="0">
                <a:solidFill>
                  <a:srgbClr val="1E293B"/>
                </a:solidFill>
                <a:latin typeface="Calibri"/>
              </a:rPr>
              <a:t>Scharr filter turns height into bumps; crevices darken</a:t>
            </a:r>
          </a:p>
          <a:p>
            <a:pPr algn="l" marL="274320" indent="-274320">
              <a:lnSpc>
                <a:spcPct val="100000"/>
              </a:lnSpc>
              <a:spcAft>
                <a:spcPts val="900"/>
              </a:spcAft>
              <a:buClr>
                <a:srgbClr val="0F8F85"/>
              </a:buClr>
              <a:buChar char="▪"/>
            </a:pPr>
            <a:r>
              <a:rPr sz="1900" b="0" i="0">
                <a:solidFill>
                  <a:srgbClr val="1E293B"/>
                </a:solidFill>
                <a:latin typeface="Calibri"/>
              </a:rPr>
              <a:t>Objects are tables of primitives plus noise deformers</a:t>
            </a:r>
          </a:p>
          <a:p>
            <a:pPr algn="l" marL="274320" indent="-274320">
              <a:lnSpc>
                <a:spcPct val="100000"/>
              </a:lnSpc>
              <a:spcAft>
                <a:spcPts val="900"/>
              </a:spcAft>
              <a:buClr>
                <a:srgbClr val="0F8F85"/>
              </a:buClr>
              <a:buChar char="▪"/>
            </a:pPr>
            <a:r>
              <a:rPr sz="1900" b="0" i="0">
                <a:solidFill>
                  <a:srgbClr val="1E293B"/>
                </a:solidFill>
                <a:latin typeface="Calibri"/>
              </a:rPr>
              <a:t>Soldiers: skeletons with two-bone IK legs</a:t>
            </a:r>
          </a:p>
        </p:txBody>
      </p:sp>
      <p:pic>
        <p:nvPicPr>
          <p:cNvPr id="20" name="Picture 19" descr="showroom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92240" y="3429000"/>
            <a:ext cx="5120640" cy="2880360"/>
          </a:xfrm>
          <a:prstGeom prst="rect">
            <a:avLst/>
          </a:prstGeom>
          <a:ln w="28575">
            <a:solidFill>
              <a:srgbClr val="FFFFFF"/>
            </a:solidFill>
          </a:ln>
          <a:effectLst>
            <a:outerShdw blurRad="127000" dist="38100" dir="5400000" algn="t" rotWithShape="0">
              <a:srgbClr val="0B1220">
                <a:alpha val="24000"/>
              </a:srgbClr>
            </a:outerShdw>
          </a:effectLst>
        </p:spPr>
      </p:pic>
      <p:sp>
        <p:nvSpPr>
          <p:cNvPr id="21" name="TextBox 20"/>
          <p:cNvSpPr txBox="1"/>
          <p:nvPr/>
        </p:nvSpPr>
        <p:spPr>
          <a:xfrm>
            <a:off x="6492240" y="6364224"/>
            <a:ext cx="512064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1">
                <a:solidFill>
                  <a:srgbClr val="64748B"/>
                </a:solidFill>
                <a:latin typeface="Calibri"/>
              </a:rPr>
              <a:t>The material showroom: one sphere per recipe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nten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head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86868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868680"/>
            <a:ext cx="12191695" cy="41148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274320"/>
            <a:ext cx="91440" cy="34747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18872"/>
            <a:ext cx="10515600" cy="6400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Georgia"/>
              </a:rPr>
              <a:t>3. Transformations: creating and combining objects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00" b="0" i="0">
                <a:solidFill>
                  <a:srgbClr val="64748B"/>
                </a:solidFill>
                <a:latin typeface="Calibri"/>
              </a:rPr>
              <a:t>Sentinel  ·  CSE 4102  ·  KUET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4748B"/>
                </a:solidFill>
                <a:latin typeface="Calibri"/>
              </a:rPr>
              <a:t>5 / 10</a:t>
            </a:r>
          </a:p>
        </p:txBody>
      </p:sp>
      <p:sp>
        <p:nvSpPr>
          <p:cNvPr id="9" name="Pentagon 8"/>
          <p:cNvSpPr/>
          <p:nvPr/>
        </p:nvSpPr>
        <p:spPr>
          <a:xfrm>
            <a:off x="548640" y="1051560"/>
            <a:ext cx="1973580" cy="777240"/>
          </a:xfrm>
          <a:prstGeom prst="homePlate">
            <a:avLst>
              <a:gd name="adj" fmla="val 28000"/>
            </a:avLst>
          </a:prstGeom>
          <a:solidFill>
            <a:srgbClr val="E6F4F2"/>
          </a:solidFill>
          <a:ln w="12700">
            <a:solidFill>
              <a:srgbClr val="0F8F85"/>
            </a:solidFill>
          </a:ln>
          <a:effectLst>
            <a:outerShdw blurRad="63500" dist="12700" dir="5400000" algn="t" rotWithShape="0">
              <a:srgbClr val="0B122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051560"/>
            <a:ext cx="1607820" cy="7772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1E293B"/>
                </a:solidFill>
                <a:latin typeface="Calibri"/>
              </a:rPr>
              <a:t>Primitive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1E293B"/>
                </a:solidFill>
                <a:latin typeface="Calibri"/>
              </a:rPr>
              <a:t>mesh</a:t>
            </a:r>
          </a:p>
        </p:txBody>
      </p:sp>
      <p:sp>
        <p:nvSpPr>
          <p:cNvPr id="11" name="Chevron 10"/>
          <p:cNvSpPr/>
          <p:nvPr/>
        </p:nvSpPr>
        <p:spPr>
          <a:xfrm>
            <a:off x="2385060" y="1051560"/>
            <a:ext cx="1973580" cy="777240"/>
          </a:xfrm>
          <a:prstGeom prst="chevron">
            <a:avLst>
              <a:gd name="adj" fmla="val 28000"/>
            </a:avLst>
          </a:prstGeom>
          <a:solidFill>
            <a:srgbClr val="CCEAE6"/>
          </a:solidFill>
          <a:ln w="12700">
            <a:solidFill>
              <a:srgbClr val="0F8F85"/>
            </a:solidFill>
          </a:ln>
          <a:effectLst>
            <a:outerShdw blurRad="63500" dist="12700" dir="5400000" algn="t" rotWithShape="0">
              <a:srgbClr val="0B122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641092" y="1051560"/>
            <a:ext cx="1607820" cy="7772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1E293B"/>
                </a:solidFill>
                <a:latin typeface="Calibri"/>
              </a:rPr>
              <a:t>Deformers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1E293B"/>
                </a:solidFill>
                <a:latin typeface="Calibri"/>
              </a:rPr>
              <a:t>(own space)</a:t>
            </a:r>
          </a:p>
        </p:txBody>
      </p:sp>
      <p:sp>
        <p:nvSpPr>
          <p:cNvPr id="13" name="Chevron 12"/>
          <p:cNvSpPr/>
          <p:nvPr/>
        </p:nvSpPr>
        <p:spPr>
          <a:xfrm>
            <a:off x="4221480" y="1051560"/>
            <a:ext cx="1973580" cy="777240"/>
          </a:xfrm>
          <a:prstGeom prst="chevron">
            <a:avLst>
              <a:gd name="adj" fmla="val 28000"/>
            </a:avLst>
          </a:prstGeom>
          <a:solidFill>
            <a:srgbClr val="E6F4F2"/>
          </a:solidFill>
          <a:ln w="12700">
            <a:solidFill>
              <a:srgbClr val="0F8F85"/>
            </a:solidFill>
          </a:ln>
          <a:effectLst>
            <a:outerShdw blurRad="63500" dist="12700" dir="5400000" algn="t" rotWithShape="0">
              <a:srgbClr val="0B122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77512" y="1051560"/>
            <a:ext cx="1607820" cy="7772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1E293B"/>
                </a:solidFill>
                <a:latin typeface="Calibri"/>
              </a:rPr>
              <a:t>M_part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1E293B"/>
                </a:solidFill>
                <a:latin typeface="Calibri"/>
              </a:rPr>
              <a:t>scale, turn, move</a:t>
            </a:r>
          </a:p>
        </p:txBody>
      </p:sp>
      <p:sp>
        <p:nvSpPr>
          <p:cNvPr id="15" name="Chevron 14"/>
          <p:cNvSpPr/>
          <p:nvPr/>
        </p:nvSpPr>
        <p:spPr>
          <a:xfrm>
            <a:off x="6057900" y="1051560"/>
            <a:ext cx="1973580" cy="777240"/>
          </a:xfrm>
          <a:prstGeom prst="chevron">
            <a:avLst>
              <a:gd name="adj" fmla="val 28000"/>
            </a:avLst>
          </a:prstGeom>
          <a:solidFill>
            <a:srgbClr val="CCEAE6"/>
          </a:solidFill>
          <a:ln w="12700">
            <a:solidFill>
              <a:srgbClr val="0F8F85"/>
            </a:solidFill>
          </a:ln>
          <a:effectLst>
            <a:outerShdw blurRad="63500" dist="12700" dir="5400000" algn="t" rotWithShape="0">
              <a:srgbClr val="0B122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13932" y="1051560"/>
            <a:ext cx="1607820" cy="7772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1E293B"/>
                </a:solidFill>
                <a:latin typeface="Calibri"/>
              </a:rPr>
              <a:t>Merge by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1E293B"/>
                </a:solidFill>
                <a:latin typeface="Calibri"/>
              </a:rPr>
              <a:t>material</a:t>
            </a:r>
          </a:p>
        </p:txBody>
      </p:sp>
      <p:sp>
        <p:nvSpPr>
          <p:cNvPr id="17" name="Chevron 16"/>
          <p:cNvSpPr/>
          <p:nvPr/>
        </p:nvSpPr>
        <p:spPr>
          <a:xfrm>
            <a:off x="7894320" y="1051560"/>
            <a:ext cx="1973580" cy="777240"/>
          </a:xfrm>
          <a:prstGeom prst="chevron">
            <a:avLst>
              <a:gd name="adj" fmla="val 28000"/>
            </a:avLst>
          </a:prstGeom>
          <a:solidFill>
            <a:srgbClr val="E6F4F2"/>
          </a:solidFill>
          <a:ln w="12700">
            <a:solidFill>
              <a:srgbClr val="0F8F85"/>
            </a:solidFill>
          </a:ln>
          <a:effectLst>
            <a:outerShdw blurRad="63500" dist="12700" dir="5400000" algn="t" rotWithShape="0">
              <a:srgbClr val="0B122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50351" y="1051560"/>
            <a:ext cx="1607820" cy="7772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1E293B"/>
                </a:solidFill>
                <a:latin typeface="Calibri"/>
              </a:rPr>
              <a:t>M_world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1E293B"/>
                </a:solidFill>
                <a:latin typeface="Calibri"/>
              </a:rPr>
              <a:t>instances</a:t>
            </a:r>
          </a:p>
        </p:txBody>
      </p:sp>
      <p:sp>
        <p:nvSpPr>
          <p:cNvPr id="19" name="Chevron 18"/>
          <p:cNvSpPr/>
          <p:nvPr/>
        </p:nvSpPr>
        <p:spPr>
          <a:xfrm>
            <a:off x="9730740" y="1051560"/>
            <a:ext cx="1973580" cy="777240"/>
          </a:xfrm>
          <a:prstGeom prst="chevron">
            <a:avLst>
              <a:gd name="adj" fmla="val 28000"/>
            </a:avLst>
          </a:prstGeom>
          <a:solidFill>
            <a:srgbClr val="CCEAE6"/>
          </a:solidFill>
          <a:ln w="12700">
            <a:solidFill>
              <a:srgbClr val="0F8F85"/>
            </a:solidFill>
          </a:ln>
          <a:effectLst>
            <a:outerShdw blurRad="63500" dist="12700" dir="5400000" algn="t" rotWithShape="0">
              <a:srgbClr val="0B122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986771" y="1051560"/>
            <a:ext cx="1607820" cy="7772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1E293B"/>
                </a:solidFill>
                <a:latin typeface="Calibri"/>
              </a:rPr>
              <a:t>V then P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1E293B"/>
                </a:solidFill>
                <a:latin typeface="Calibri"/>
              </a:rPr>
              <a:t>to screen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2011680"/>
            <a:ext cx="5669280" cy="2194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DE5EE"/>
            </a:solidFill>
          </a:ln>
          <a:effectLst>
            <a:outerShdw blurRad="114300" dist="25400" dir="5400000" algn="t" rotWithShape="0">
              <a:srgbClr val="0B122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8640" y="2121408"/>
            <a:ext cx="64008" cy="1975104"/>
          </a:xfrm>
          <a:prstGeom prst="rect">
            <a:avLst/>
          </a:prstGeom>
          <a:solidFill>
            <a:srgbClr val="0F8F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2103120"/>
            <a:ext cx="5303520" cy="34747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0F8F85"/>
                </a:solidFill>
                <a:latin typeface="Calibri"/>
              </a:rPr>
              <a:t>ONE PART: SCALE, THEN TURN, THEN MOVE</a:t>
            </a:r>
          </a:p>
        </p:txBody>
      </p:sp>
      <p:pic>
        <p:nvPicPr>
          <p:cNvPr id="24" name="Picture 23" descr="mpa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4938" y="2824695"/>
            <a:ext cx="4556683" cy="358216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77240" y="3694175"/>
            <a:ext cx="5303520" cy="493776"/>
          </a:xfrm>
          <a:prstGeom prst="rect">
            <a:avLst/>
          </a:prstGeom>
          <a:noFill/>
        </p:spPr>
        <p:txBody>
          <a:bodyPr wrap="square" lIns="36576" rIns="36576" tIns="18288" bIns="18288" anchor="b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 i="0">
                <a:solidFill>
                  <a:srgbClr val="64748B"/>
                </a:solidFill>
                <a:latin typeface="Calibri"/>
              </a:rPr>
              <a:t>Right to left: stretched, turned about its own centre, moved last.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 i="0">
                <a:solidFill>
                  <a:srgbClr val="64748B"/>
                </a:solidFill>
                <a:latin typeface="Calibri"/>
              </a:rPr>
              <a:t>Example: (1,0,0) → S(2,1,1) → R_y 90° → T(5,0,0) = (5, 0, −2)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4343400"/>
            <a:ext cx="5669280" cy="2011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DE5EE"/>
            </a:solidFill>
          </a:ln>
          <a:effectLst>
            <a:outerShdw blurRad="114300" dist="25400" dir="5400000" algn="t" rotWithShape="0">
              <a:srgbClr val="0B122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48640" y="4453128"/>
            <a:ext cx="64008" cy="1792224"/>
          </a:xfrm>
          <a:prstGeom prst="rect">
            <a:avLst/>
          </a:prstGeom>
          <a:solidFill>
            <a:srgbClr val="0F8F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77240" y="4434840"/>
            <a:ext cx="5303520" cy="34747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0F8F85"/>
                </a:solidFill>
                <a:latin typeface="Calibri"/>
              </a:rPr>
              <a:t>NORMALS USE THE INVERSE TRANSPOSE</a:t>
            </a:r>
          </a:p>
        </p:txBody>
      </p:sp>
      <p:pic>
        <p:nvPicPr>
          <p:cNvPr id="29" name="Picture 28" descr="nma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" y="5011282"/>
            <a:ext cx="5029200" cy="648482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777240" y="6044184"/>
            <a:ext cx="5303520" cy="292608"/>
          </a:xfrm>
          <a:prstGeom prst="rect">
            <a:avLst/>
          </a:prstGeom>
          <a:noFill/>
        </p:spPr>
        <p:txBody>
          <a:bodyPr wrap="square" lIns="36576" rIns="36576" tIns="18288" bIns="18288" anchor="b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 i="0">
                <a:solidFill>
                  <a:srgbClr val="64748B"/>
                </a:solidFill>
                <a:latin typeface="Calibri"/>
              </a:rPr>
              <a:t>S = diag(2,1,1): correct (0.447, 0.894, 0); naive (0.894, 0.447, 0) is wrong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46520" y="2011680"/>
            <a:ext cx="5257800" cy="17830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DE5EE"/>
            </a:solidFill>
          </a:ln>
          <a:effectLst>
            <a:outerShdw blurRad="114300" dist="25400" dir="5400000" algn="t" rotWithShape="0">
              <a:srgbClr val="0B122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446520" y="2121408"/>
            <a:ext cx="64008" cy="1563624"/>
          </a:xfrm>
          <a:prstGeom prst="rect">
            <a:avLst/>
          </a:prstGeom>
          <a:solidFill>
            <a:srgbClr val="0F8F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675120" y="2103120"/>
            <a:ext cx="4892040" cy="34747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0F8F85"/>
                </a:solidFill>
                <a:latin typeface="Calibri"/>
              </a:rPr>
              <a:t>ROTATION ABOUT Y</a:t>
            </a:r>
          </a:p>
        </p:txBody>
      </p:sp>
      <p:pic>
        <p:nvPicPr>
          <p:cNvPr id="34" name="Picture 33" descr="ry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37133" y="2490254"/>
            <a:ext cx="3676573" cy="1127683"/>
          </a:xfrm>
          <a:prstGeom prst="rect">
            <a:avLst/>
          </a:prstGeom>
        </p:spPr>
      </p:pic>
      <p:sp>
        <p:nvSpPr>
          <p:cNvPr id="35" name="Rounded Rectangle 34"/>
          <p:cNvSpPr/>
          <p:nvPr/>
        </p:nvSpPr>
        <p:spPr>
          <a:xfrm>
            <a:off x="6446520" y="3931920"/>
            <a:ext cx="5257800" cy="11887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DE5EE"/>
            </a:solidFill>
          </a:ln>
          <a:effectLst>
            <a:outerShdw blurRad="114300" dist="25400" dir="5400000" algn="t" rotWithShape="0">
              <a:srgbClr val="0B122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446520" y="4041648"/>
            <a:ext cx="64008" cy="969264"/>
          </a:xfrm>
          <a:prstGeom prst="rect">
            <a:avLst/>
          </a:prstGeom>
          <a:solidFill>
            <a:srgbClr val="0F8F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675120" y="4023359"/>
            <a:ext cx="4892040" cy="34747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0F8F85"/>
                </a:solidFill>
                <a:latin typeface="Calibri"/>
              </a:rPr>
              <a:t>HIERARCHY: PRODUCTS DOWN THE CHAIN</a:t>
            </a:r>
          </a:p>
        </p:txBody>
      </p:sp>
      <p:pic>
        <p:nvPicPr>
          <p:cNvPr id="38" name="Picture 37" descr="mgun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66560" y="4518590"/>
            <a:ext cx="4617720" cy="317130"/>
          </a:xfrm>
          <a:prstGeom prst="rect">
            <a:avLst/>
          </a:prstGeom>
        </p:spPr>
      </p:pic>
      <p:sp>
        <p:nvSpPr>
          <p:cNvPr id="39" name="Rounded Rectangle 38"/>
          <p:cNvSpPr/>
          <p:nvPr/>
        </p:nvSpPr>
        <p:spPr>
          <a:xfrm>
            <a:off x="6446520" y="5257800"/>
            <a:ext cx="5257800" cy="1097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DE5EE"/>
            </a:solidFill>
          </a:ln>
          <a:effectLst>
            <a:outerShdw blurRad="114300" dist="25400" dir="5400000" algn="t" rotWithShape="0">
              <a:srgbClr val="0B122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446520" y="5367528"/>
            <a:ext cx="64008" cy="877824"/>
          </a:xfrm>
          <a:prstGeom prst="rect">
            <a:avLst/>
          </a:prstGeom>
          <a:solidFill>
            <a:srgbClr val="0F8F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675120" y="5349240"/>
            <a:ext cx="4892040" cy="34747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0F8F85"/>
                </a:solidFill>
                <a:latin typeface="Calibri"/>
              </a:rPr>
              <a:t>WORLD TO SCREEN</a:t>
            </a:r>
          </a:p>
        </p:txBody>
      </p:sp>
      <p:pic>
        <p:nvPicPr>
          <p:cNvPr id="42" name="Picture 41" descr="clip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500023" y="5785866"/>
            <a:ext cx="3150793" cy="3429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nten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head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86868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868680"/>
            <a:ext cx="12191695" cy="41148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274320"/>
            <a:ext cx="91440" cy="34747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18872"/>
            <a:ext cx="10515600" cy="6400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Georgia"/>
              </a:rPr>
              <a:t>4. Illumination models and light sources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00" b="0" i="0">
                <a:solidFill>
                  <a:srgbClr val="64748B"/>
                </a:solidFill>
                <a:latin typeface="Calibri"/>
              </a:rPr>
              <a:t>Sentinel  ·  CSE 4102  ·  KUET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4748B"/>
                </a:solidFill>
                <a:latin typeface="Calibri"/>
              </a:rPr>
              <a:t>6 / 10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987552"/>
            <a:ext cx="8138160" cy="12801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DE5EE"/>
            </a:solidFill>
          </a:ln>
          <a:effectLst>
            <a:outerShdw blurRad="114300" dist="25400" dir="5400000" algn="t" rotWithShape="0">
              <a:srgbClr val="0B122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1097280"/>
            <a:ext cx="64008" cy="1060704"/>
          </a:xfrm>
          <a:prstGeom prst="rect">
            <a:avLst/>
          </a:prstGeom>
          <a:solidFill>
            <a:srgbClr val="0F8F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1078992"/>
            <a:ext cx="7772400" cy="34747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0F8F85"/>
                </a:solidFill>
                <a:latin typeface="Calibri"/>
              </a:rPr>
              <a:t>DIRECT LIGHT + AMBIENT + EMISSION</a:t>
            </a:r>
          </a:p>
        </p:txBody>
      </p:sp>
      <p:pic>
        <p:nvPicPr>
          <p:cNvPr id="12" name="Picture 11" descr="su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75459" y="1399032"/>
            <a:ext cx="6284520" cy="758951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8823960" y="987552"/>
            <a:ext cx="2880360" cy="12801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DE5EE"/>
            </a:solidFill>
          </a:ln>
          <a:effectLst>
            <a:outerShdw blurRad="114300" dist="25400" dir="5400000" algn="t" rotWithShape="0">
              <a:srgbClr val="0B122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823960" y="1097280"/>
            <a:ext cx="64008" cy="106070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052560" y="1078992"/>
            <a:ext cx="2514600" cy="34747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0F8F85"/>
                </a:solidFill>
                <a:latin typeface="Calibri"/>
              </a:rPr>
              <a:t>SYMBOLS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52560" y="1371600"/>
            <a:ext cx="2606040" cy="9144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 i="0">
                <a:solidFill>
                  <a:srgbClr val="64748B"/>
                </a:solidFill>
                <a:latin typeface="Calibri"/>
              </a:rPr>
              <a:t>f: illumination model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 i="0">
                <a:solidFill>
                  <a:srgbClr val="64748B"/>
                </a:solidFill>
                <a:latin typeface="Calibri"/>
              </a:rPr>
              <a:t>att: falloff · sh: shadow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 i="0">
                <a:solidFill>
                  <a:srgbClr val="64748B"/>
                </a:solidFill>
                <a:latin typeface="Calibri"/>
              </a:rPr>
              <a:t>N_L: lights · AO: occlusion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 i="0">
                <a:solidFill>
                  <a:srgbClr val="64748B"/>
                </a:solidFill>
                <a:latin typeface="Calibri"/>
              </a:rPr>
              <a:t>e: emission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2331720"/>
            <a:ext cx="6400800" cy="40233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DE5EE"/>
            </a:solidFill>
          </a:ln>
          <a:effectLst>
            <a:outerShdw blurRad="114300" dist="25400" dir="5400000" algn="t" rotWithShape="0">
              <a:srgbClr val="0B122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8640" y="2441448"/>
            <a:ext cx="64008" cy="3803904"/>
          </a:xfrm>
          <a:prstGeom prst="rect">
            <a:avLst/>
          </a:prstGeom>
          <a:solidFill>
            <a:srgbClr val="0F8F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2450592"/>
            <a:ext cx="1828800" cy="5029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0F8F85"/>
                </a:solidFill>
                <a:latin typeface="Calibri"/>
              </a:rPr>
              <a:t>Lambert</a:t>
            </a:r>
          </a:p>
        </p:txBody>
      </p:sp>
      <p:pic>
        <p:nvPicPr>
          <p:cNvPr id="20" name="Picture 19" descr="lamber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06040" y="2441448"/>
            <a:ext cx="725484" cy="481523"/>
          </a:xfrm>
          <a:prstGeom prst="rect">
            <a:avLst/>
          </a:prstGeom>
        </p:spPr>
      </p:pic>
      <p:sp>
        <p:nvSpPr>
          <p:cNvPr id="21" name="Rectangle 20"/>
          <p:cNvSpPr/>
          <p:nvPr/>
        </p:nvSpPr>
        <p:spPr>
          <a:xfrm>
            <a:off x="777240" y="3026664"/>
            <a:ext cx="5943600" cy="10972"/>
          </a:xfrm>
          <a:prstGeom prst="rect">
            <a:avLst/>
          </a:prstGeom>
          <a:solidFill>
            <a:srgbClr val="DDE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3099816"/>
            <a:ext cx="1828800" cy="5029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0F8F85"/>
                </a:solidFill>
                <a:latin typeface="Calibri"/>
              </a:rPr>
              <a:t>Phong</a:t>
            </a:r>
          </a:p>
        </p:txBody>
      </p:sp>
      <p:pic>
        <p:nvPicPr>
          <p:cNvPr id="23" name="Picture 22" descr="phong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606040" y="3090672"/>
            <a:ext cx="3630989" cy="548640"/>
          </a:xfrm>
          <a:prstGeom prst="rect">
            <a:avLst/>
          </a:prstGeom>
        </p:spPr>
      </p:pic>
      <p:sp>
        <p:nvSpPr>
          <p:cNvPr id="24" name="Rectangle 23"/>
          <p:cNvSpPr/>
          <p:nvPr/>
        </p:nvSpPr>
        <p:spPr>
          <a:xfrm>
            <a:off x="777240" y="3675887"/>
            <a:ext cx="5943600" cy="10972"/>
          </a:xfrm>
          <a:prstGeom prst="rect">
            <a:avLst/>
          </a:prstGeom>
          <a:solidFill>
            <a:srgbClr val="DDE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3749039"/>
            <a:ext cx="1828800" cy="5029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0F8F85"/>
                </a:solidFill>
                <a:latin typeface="Calibri"/>
              </a:rPr>
              <a:t>Blinn–Phong</a:t>
            </a:r>
          </a:p>
        </p:txBody>
      </p:sp>
      <p:pic>
        <p:nvPicPr>
          <p:cNvPr id="26" name="Picture 25" descr="blinn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606040" y="3739896"/>
            <a:ext cx="3676451" cy="548640"/>
          </a:xfrm>
          <a:prstGeom prst="rect">
            <a:avLst/>
          </a:prstGeom>
        </p:spPr>
      </p:pic>
      <p:sp>
        <p:nvSpPr>
          <p:cNvPr id="27" name="Rectangle 26"/>
          <p:cNvSpPr/>
          <p:nvPr/>
        </p:nvSpPr>
        <p:spPr>
          <a:xfrm>
            <a:off x="777240" y="4325112"/>
            <a:ext cx="5943600" cy="10972"/>
          </a:xfrm>
          <a:prstGeom prst="rect">
            <a:avLst/>
          </a:prstGeom>
          <a:solidFill>
            <a:srgbClr val="DDE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77240" y="4398264"/>
            <a:ext cx="1828800" cy="5029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0F8F85"/>
                </a:solidFill>
                <a:latin typeface="Calibri"/>
              </a:rPr>
              <a:t>Oren–Nayar</a:t>
            </a:r>
          </a:p>
        </p:txBody>
      </p:sp>
      <p:pic>
        <p:nvPicPr>
          <p:cNvPr id="29" name="Picture 28" descr="ore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606040" y="4389120"/>
            <a:ext cx="4206240" cy="463060"/>
          </a:xfrm>
          <a:prstGeom prst="rect">
            <a:avLst/>
          </a:prstGeom>
        </p:spPr>
      </p:pic>
      <p:sp>
        <p:nvSpPr>
          <p:cNvPr id="30" name="Rectangle 29"/>
          <p:cNvSpPr/>
          <p:nvPr/>
        </p:nvSpPr>
        <p:spPr>
          <a:xfrm>
            <a:off x="777240" y="4974336"/>
            <a:ext cx="5943600" cy="10972"/>
          </a:xfrm>
          <a:prstGeom prst="rect">
            <a:avLst/>
          </a:prstGeom>
          <a:solidFill>
            <a:srgbClr val="DDE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7240" y="5047488"/>
            <a:ext cx="1828800" cy="5029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0F8F85"/>
                </a:solidFill>
                <a:latin typeface="Calibri"/>
              </a:rPr>
              <a:t>Cook–Torrance</a:t>
            </a:r>
          </a:p>
        </p:txBody>
      </p:sp>
      <p:pic>
        <p:nvPicPr>
          <p:cNvPr id="32" name="Picture 31" descr="ct2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606040" y="5038344"/>
            <a:ext cx="3255106" cy="548640"/>
          </a:xfrm>
          <a:prstGeom prst="rect">
            <a:avLst/>
          </a:prstGeom>
        </p:spPr>
      </p:pic>
      <p:sp>
        <p:nvSpPr>
          <p:cNvPr id="33" name="Rectangle 32"/>
          <p:cNvSpPr/>
          <p:nvPr/>
        </p:nvSpPr>
        <p:spPr>
          <a:xfrm>
            <a:off x="777240" y="5623560"/>
            <a:ext cx="5943600" cy="10972"/>
          </a:xfrm>
          <a:prstGeom prst="rect">
            <a:avLst/>
          </a:prstGeom>
          <a:solidFill>
            <a:srgbClr val="DDE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77240" y="5696712"/>
            <a:ext cx="1828800" cy="50292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0F8F85"/>
                </a:solidFill>
                <a:latin typeface="Calibri"/>
              </a:rPr>
              <a:t>Subsurface</a:t>
            </a:r>
          </a:p>
        </p:txBody>
      </p:sp>
      <p:pic>
        <p:nvPicPr>
          <p:cNvPr id="35" name="Picture 34" descr="sss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606040" y="5687568"/>
            <a:ext cx="3843144" cy="548640"/>
          </a:xfrm>
          <a:prstGeom prst="rect">
            <a:avLst/>
          </a:prstGeom>
        </p:spPr>
      </p:pic>
      <p:sp>
        <p:nvSpPr>
          <p:cNvPr id="36" name="Rounded Rectangle 35"/>
          <p:cNvSpPr/>
          <p:nvPr/>
        </p:nvSpPr>
        <p:spPr>
          <a:xfrm>
            <a:off x="7223760" y="2331720"/>
            <a:ext cx="4480560" cy="1600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DE5EE"/>
            </a:solidFill>
          </a:ln>
          <a:effectLst>
            <a:outerShdw blurRad="114300" dist="25400" dir="5400000" algn="t" rotWithShape="0">
              <a:srgbClr val="0B122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223760" y="2441448"/>
            <a:ext cx="64008" cy="1380744"/>
          </a:xfrm>
          <a:prstGeom prst="rect">
            <a:avLst/>
          </a:prstGeom>
          <a:solidFill>
            <a:srgbClr val="0F8F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452360" y="2423160"/>
            <a:ext cx="4114800" cy="34747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0F8F85"/>
                </a:solidFill>
                <a:latin typeface="Calibri"/>
              </a:rPr>
              <a:t>LIGHT SOURCES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452360" y="2697480"/>
            <a:ext cx="41148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64748B"/>
                </a:solidFill>
                <a:latin typeface="Calibri"/>
              </a:rPr>
              <a:t>Directional · Point · Spot · Area (4×4 samples)</a:t>
            </a:r>
          </a:p>
        </p:txBody>
      </p:sp>
      <p:pic>
        <p:nvPicPr>
          <p:cNvPr id="40" name="Picture 39" descr="att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976516" y="3017520"/>
            <a:ext cx="2975046" cy="868680"/>
          </a:xfrm>
          <a:prstGeom prst="rect">
            <a:avLst/>
          </a:prstGeom>
        </p:spPr>
      </p:pic>
      <p:sp>
        <p:nvSpPr>
          <p:cNvPr id="41" name="Rounded Rectangle 40"/>
          <p:cNvSpPr/>
          <p:nvPr/>
        </p:nvSpPr>
        <p:spPr>
          <a:xfrm>
            <a:off x="7223760" y="4069080"/>
            <a:ext cx="448056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DE5EE"/>
            </a:solidFill>
          </a:ln>
          <a:effectLst>
            <a:outerShdw blurRad="114300" dist="25400" dir="5400000" algn="t" rotWithShape="0">
              <a:srgbClr val="0B122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223760" y="4178808"/>
            <a:ext cx="64008" cy="2066543"/>
          </a:xfrm>
          <a:prstGeom prst="rect">
            <a:avLst/>
          </a:prstGeom>
          <a:solidFill>
            <a:srgbClr val="0F8F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452360" y="4160520"/>
            <a:ext cx="4114800" cy="34747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0F8F85"/>
                </a:solidFill>
                <a:latin typeface="Calibri"/>
              </a:rPr>
              <a:t>DEFINITIONS USED ABOVE</a:t>
            </a:r>
          </a:p>
        </p:txBody>
      </p:sp>
      <p:pic>
        <p:nvPicPr>
          <p:cNvPr id="44" name="Picture 43" descr="def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543800" y="4717746"/>
            <a:ext cx="3840480" cy="831154"/>
          </a:xfrm>
          <a:prstGeom prst="rect">
            <a:avLst/>
          </a:prstGeom>
        </p:spPr>
      </p:pic>
      <p:pic>
        <p:nvPicPr>
          <p:cNvPr id="45" name="Picture 44" descr="ctdefs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543800" y="5658628"/>
            <a:ext cx="3840480" cy="34953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nten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head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86868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868680"/>
            <a:ext cx="12191695" cy="41148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274320"/>
            <a:ext cx="91440" cy="34747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18872"/>
            <a:ext cx="10515600" cy="6400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Georgia"/>
              </a:rPr>
              <a:t>5. The rendering pipeline: shadows, ambient, tone map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00" b="0" i="0">
                <a:solidFill>
                  <a:srgbClr val="64748B"/>
                </a:solidFill>
                <a:latin typeface="Calibri"/>
              </a:rPr>
              <a:t>Sentinel  ·  CSE 4102  ·  KUET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4748B"/>
                </a:solidFill>
                <a:latin typeface="Calibri"/>
              </a:rPr>
              <a:t>7 / 10</a:t>
            </a:r>
          </a:p>
        </p:txBody>
      </p:sp>
      <p:sp>
        <p:nvSpPr>
          <p:cNvPr id="9" name="Pentagon 8"/>
          <p:cNvSpPr/>
          <p:nvPr/>
        </p:nvSpPr>
        <p:spPr>
          <a:xfrm>
            <a:off x="548640" y="1051560"/>
            <a:ext cx="1711234" cy="777240"/>
          </a:xfrm>
          <a:prstGeom prst="homePlate">
            <a:avLst>
              <a:gd name="adj" fmla="val 28000"/>
            </a:avLst>
          </a:prstGeom>
          <a:solidFill>
            <a:srgbClr val="E6F4F2"/>
          </a:solidFill>
          <a:ln w="12700">
            <a:solidFill>
              <a:srgbClr val="0F8F85"/>
            </a:solidFill>
          </a:ln>
          <a:effectLst>
            <a:outerShdw blurRad="63500" dist="12700" dir="5400000" algn="t" rotWithShape="0">
              <a:srgbClr val="0B122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051560"/>
            <a:ext cx="1345474" cy="7772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1E293B"/>
                </a:solidFill>
                <a:latin typeface="Calibri"/>
              </a:rPr>
              <a:t>Sky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1E293B"/>
                </a:solidFill>
                <a:latin typeface="Calibri"/>
              </a:rPr>
              <a:t>table</a:t>
            </a:r>
          </a:p>
        </p:txBody>
      </p:sp>
      <p:sp>
        <p:nvSpPr>
          <p:cNvPr id="11" name="Chevron 10"/>
          <p:cNvSpPr/>
          <p:nvPr/>
        </p:nvSpPr>
        <p:spPr>
          <a:xfrm>
            <a:off x="2122714" y="1051560"/>
            <a:ext cx="1711234" cy="777240"/>
          </a:xfrm>
          <a:prstGeom prst="chevron">
            <a:avLst>
              <a:gd name="adj" fmla="val 28000"/>
            </a:avLst>
          </a:prstGeom>
          <a:solidFill>
            <a:srgbClr val="CCEAE6"/>
          </a:solidFill>
          <a:ln w="12700">
            <a:solidFill>
              <a:srgbClr val="0F8F85"/>
            </a:solidFill>
          </a:ln>
          <a:effectLst>
            <a:outerShdw blurRad="63500" dist="12700" dir="5400000" algn="t" rotWithShape="0">
              <a:srgbClr val="0B122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378746" y="1051560"/>
            <a:ext cx="1345474" cy="7772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1E293B"/>
                </a:solidFill>
                <a:latin typeface="Calibri"/>
              </a:rPr>
              <a:t>Shadows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1E293B"/>
                </a:solidFill>
                <a:latin typeface="Calibri"/>
              </a:rPr>
              <a:t>3 cascades</a:t>
            </a:r>
          </a:p>
        </p:txBody>
      </p:sp>
      <p:sp>
        <p:nvSpPr>
          <p:cNvPr id="13" name="Chevron 12"/>
          <p:cNvSpPr/>
          <p:nvPr/>
        </p:nvSpPr>
        <p:spPr>
          <a:xfrm>
            <a:off x="3696788" y="1051560"/>
            <a:ext cx="1711234" cy="777240"/>
          </a:xfrm>
          <a:prstGeom prst="chevron">
            <a:avLst>
              <a:gd name="adj" fmla="val 28000"/>
            </a:avLst>
          </a:prstGeom>
          <a:solidFill>
            <a:srgbClr val="E6F4F2"/>
          </a:solidFill>
          <a:ln w="12700">
            <a:solidFill>
              <a:srgbClr val="0F8F85"/>
            </a:solidFill>
          </a:ln>
          <a:effectLst>
            <a:outerShdw blurRad="63500" dist="12700" dir="5400000" algn="t" rotWithShape="0">
              <a:srgbClr val="0B122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952820" y="1051560"/>
            <a:ext cx="1345474" cy="7772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1E293B"/>
                </a:solidFill>
                <a:latin typeface="Calibri"/>
              </a:rPr>
              <a:t>Geometry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1E293B"/>
                </a:solidFill>
                <a:latin typeface="Calibri"/>
              </a:rPr>
              <a:t>G-buffer</a:t>
            </a:r>
          </a:p>
        </p:txBody>
      </p:sp>
      <p:sp>
        <p:nvSpPr>
          <p:cNvPr id="15" name="Chevron 14"/>
          <p:cNvSpPr/>
          <p:nvPr/>
        </p:nvSpPr>
        <p:spPr>
          <a:xfrm>
            <a:off x="5270862" y="1051560"/>
            <a:ext cx="1711234" cy="777240"/>
          </a:xfrm>
          <a:prstGeom prst="chevron">
            <a:avLst>
              <a:gd name="adj" fmla="val 28000"/>
            </a:avLst>
          </a:prstGeom>
          <a:solidFill>
            <a:srgbClr val="CCEAE6"/>
          </a:solidFill>
          <a:ln w="12700">
            <a:solidFill>
              <a:srgbClr val="0F8F85"/>
            </a:solidFill>
          </a:ln>
          <a:effectLst>
            <a:outerShdw blurRad="63500" dist="12700" dir="5400000" algn="t" rotWithShape="0">
              <a:srgbClr val="0B122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526894" y="1051560"/>
            <a:ext cx="1345474" cy="7772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1E293B"/>
                </a:solidFill>
                <a:latin typeface="Calibri"/>
              </a:rPr>
              <a:t>SSAO</a:t>
            </a:r>
          </a:p>
        </p:txBody>
      </p:sp>
      <p:sp>
        <p:nvSpPr>
          <p:cNvPr id="17" name="Chevron 16"/>
          <p:cNvSpPr/>
          <p:nvPr/>
        </p:nvSpPr>
        <p:spPr>
          <a:xfrm>
            <a:off x="6844937" y="1051560"/>
            <a:ext cx="1711234" cy="777240"/>
          </a:xfrm>
          <a:prstGeom prst="chevron">
            <a:avLst>
              <a:gd name="adj" fmla="val 28000"/>
            </a:avLst>
          </a:prstGeom>
          <a:solidFill>
            <a:srgbClr val="E6F4F2"/>
          </a:solidFill>
          <a:ln w="12700">
            <a:solidFill>
              <a:srgbClr val="0F8F85"/>
            </a:solidFill>
          </a:ln>
          <a:effectLst>
            <a:outerShdw blurRad="63500" dist="12700" dir="5400000" algn="t" rotWithShape="0">
              <a:srgbClr val="0B122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100969" y="1051560"/>
            <a:ext cx="1345474" cy="7772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1E293B"/>
                </a:solidFill>
                <a:latin typeface="Calibri"/>
              </a:rPr>
              <a:t>Lighting,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1E293B"/>
                </a:solidFill>
                <a:latin typeface="Calibri"/>
              </a:rPr>
              <a:t>reflect, fog</a:t>
            </a:r>
          </a:p>
        </p:txBody>
      </p:sp>
      <p:sp>
        <p:nvSpPr>
          <p:cNvPr id="19" name="Chevron 18"/>
          <p:cNvSpPr/>
          <p:nvPr/>
        </p:nvSpPr>
        <p:spPr>
          <a:xfrm>
            <a:off x="8419011" y="1051560"/>
            <a:ext cx="1711234" cy="777240"/>
          </a:xfrm>
          <a:prstGeom prst="chevron">
            <a:avLst>
              <a:gd name="adj" fmla="val 28000"/>
            </a:avLst>
          </a:prstGeom>
          <a:solidFill>
            <a:srgbClr val="CCEAE6"/>
          </a:solidFill>
          <a:ln w="12700">
            <a:solidFill>
              <a:srgbClr val="0F8F85"/>
            </a:solidFill>
          </a:ln>
          <a:effectLst>
            <a:outerShdw blurRad="63500" dist="12700" dir="5400000" algn="t" rotWithShape="0">
              <a:srgbClr val="0B122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75043" y="1051560"/>
            <a:ext cx="1345474" cy="7772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1E293B"/>
                </a:solidFill>
                <a:latin typeface="Calibri"/>
              </a:rPr>
              <a:t>Smoke,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1E293B"/>
                </a:solidFill>
                <a:latin typeface="Calibri"/>
              </a:rPr>
              <a:t>fire</a:t>
            </a:r>
          </a:p>
        </p:txBody>
      </p:sp>
      <p:sp>
        <p:nvSpPr>
          <p:cNvPr id="21" name="Chevron 20"/>
          <p:cNvSpPr/>
          <p:nvPr/>
        </p:nvSpPr>
        <p:spPr>
          <a:xfrm>
            <a:off x="9993085" y="1051560"/>
            <a:ext cx="1711234" cy="777240"/>
          </a:xfrm>
          <a:prstGeom prst="chevron">
            <a:avLst>
              <a:gd name="adj" fmla="val 28000"/>
            </a:avLst>
          </a:prstGeom>
          <a:solidFill>
            <a:srgbClr val="E6F4F2"/>
          </a:solidFill>
          <a:ln w="12700">
            <a:solidFill>
              <a:srgbClr val="0F8F85"/>
            </a:solidFill>
          </a:ln>
          <a:effectLst>
            <a:outerShdw blurRad="63500" dist="12700" dir="5400000" algn="t" rotWithShape="0">
              <a:srgbClr val="0B122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249117" y="1051560"/>
            <a:ext cx="1345474" cy="7772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1E293B"/>
                </a:solidFill>
                <a:latin typeface="Calibri"/>
              </a:rPr>
              <a:t>Bloom, ACES,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1E293B"/>
                </a:solidFill>
                <a:latin typeface="Calibri"/>
              </a:rPr>
              <a:t>FXAA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2011680"/>
            <a:ext cx="6309360" cy="8229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700" b="1" i="0">
                <a:solidFill>
                  <a:srgbClr val="0F8F85"/>
                </a:solidFill>
                <a:latin typeface="Calibri"/>
              </a:rPr>
              <a:t>Deferred shading: </a:t>
            </a:r>
            <a:r>
              <a:rPr sz="1700" b="0" i="0">
                <a:solidFill>
                  <a:srgbClr val="1E293B"/>
                </a:solidFill>
                <a:latin typeface="Calibri"/>
              </a:rPr>
              <a:t>store colour, normal, shininess and depth first, then light each pixel once.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2880360"/>
            <a:ext cx="6309360" cy="17373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DE5EE"/>
            </a:solidFill>
          </a:ln>
          <a:effectLst>
            <a:outerShdw blurRad="114300" dist="25400" dir="5400000" algn="t" rotWithShape="0">
              <a:srgbClr val="0B122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48640" y="2990088"/>
            <a:ext cx="64008" cy="1517904"/>
          </a:xfrm>
          <a:prstGeom prst="rect">
            <a:avLst/>
          </a:prstGeom>
          <a:solidFill>
            <a:srgbClr val="0F8F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" y="2971800"/>
            <a:ext cx="5943600" cy="34747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0F8F85"/>
                </a:solidFill>
                <a:latin typeface="Calibri"/>
              </a:rPr>
              <a:t>CASCADED SHADOW MAPS</a:t>
            </a:r>
          </a:p>
        </p:txBody>
      </p:sp>
      <p:pic>
        <p:nvPicPr>
          <p:cNvPr id="27" name="Picture 26" descr="cs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3345204"/>
            <a:ext cx="5669280" cy="597359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777240" y="4105656"/>
            <a:ext cx="5943600" cy="493776"/>
          </a:xfrm>
          <a:prstGeom prst="rect">
            <a:avLst/>
          </a:prstGeom>
          <a:noFill/>
        </p:spPr>
        <p:txBody>
          <a:bodyPr wrap="square" lIns="36576" rIns="36576" tIns="18288" bIns="18288" anchor="b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 i="0">
                <a:solidFill>
                  <a:srgbClr val="64748B"/>
                </a:solidFill>
                <a:latin typeface="Calibri"/>
              </a:rPr>
              <a:t>λ = 0.75, N = 3, n = 0.1 m, r = 100 m  →  cuts at 9.1, 24.2, 100 m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 i="0">
                <a:solidFill>
                  <a:srgbClr val="64748B"/>
                </a:solidFill>
                <a:latin typeface="Calibri"/>
              </a:rPr>
              <a:t>normal-offset lookup · 8 rotated percentage-closer taps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48640" y="4754880"/>
            <a:ext cx="6309360" cy="1600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DE5EE"/>
            </a:solidFill>
          </a:ln>
          <a:effectLst>
            <a:outerShdw blurRad="114300" dist="25400" dir="5400000" algn="t" rotWithShape="0">
              <a:srgbClr val="0B122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48640" y="4864608"/>
            <a:ext cx="64008" cy="1380744"/>
          </a:xfrm>
          <a:prstGeom prst="rect">
            <a:avLst/>
          </a:prstGeom>
          <a:solidFill>
            <a:srgbClr val="0F8F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7240" y="4846320"/>
            <a:ext cx="5943600" cy="34747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0F8F85"/>
                </a:solidFill>
                <a:latin typeface="Calibri"/>
              </a:rPr>
              <a:t>FOG AND TONE MAP</a:t>
            </a:r>
          </a:p>
        </p:txBody>
      </p:sp>
      <p:pic>
        <p:nvPicPr>
          <p:cNvPr id="32" name="Picture 31" descr="fog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8171" y="5194998"/>
            <a:ext cx="5570296" cy="384733"/>
          </a:xfrm>
          <a:prstGeom prst="rect">
            <a:avLst/>
          </a:prstGeom>
        </p:spPr>
      </p:pic>
      <p:pic>
        <p:nvPicPr>
          <p:cNvPr id="33" name="Picture 32" descr="ace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8680" y="5671172"/>
            <a:ext cx="5669280" cy="545541"/>
          </a:xfrm>
          <a:prstGeom prst="rect">
            <a:avLst/>
          </a:prstGeom>
        </p:spPr>
      </p:pic>
      <p:pic>
        <p:nvPicPr>
          <p:cNvPr id="34" name="Picture 33" descr="dusk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78040" y="2011680"/>
            <a:ext cx="4572000" cy="2571750"/>
          </a:xfrm>
          <a:prstGeom prst="rect">
            <a:avLst/>
          </a:prstGeom>
          <a:ln w="28575">
            <a:solidFill>
              <a:srgbClr val="FFFFFF"/>
            </a:solidFill>
          </a:ln>
          <a:effectLst>
            <a:outerShdw blurRad="127000" dist="38100" dir="5400000" algn="t" rotWithShape="0">
              <a:srgbClr val="0B1220">
                <a:alpha val="24000"/>
              </a:srgbClr>
            </a:outerShdw>
          </a:effectLst>
        </p:spPr>
      </p:pic>
      <p:sp>
        <p:nvSpPr>
          <p:cNvPr id="35" name="TextBox 34"/>
          <p:cNvSpPr txBox="1"/>
          <p:nvPr/>
        </p:nvSpPr>
        <p:spPr>
          <a:xfrm>
            <a:off x="7178040" y="4638294"/>
            <a:ext cx="45720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1">
                <a:solidFill>
                  <a:srgbClr val="64748B"/>
                </a:solidFill>
                <a:latin typeface="Calibri"/>
              </a:rPr>
              <a:t>Dusk: sun, sky, haze, shadows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78040" y="5086350"/>
            <a:ext cx="4572000" cy="1371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1E293B"/>
                </a:solidFill>
                <a:latin typeface="Calibri"/>
              </a:rPr>
              <a:t>Sun, moon, lamps, cascaded shadows, SSAO, screen-space reflections, bloom and FXAA. Ambient = sky diffuse + split-sum specular, times SSAO.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nten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head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86868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868680"/>
            <a:ext cx="12191695" cy="41148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274320"/>
            <a:ext cx="91440" cy="34747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18872"/>
            <a:ext cx="10515600" cy="6400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Georgia"/>
              </a:rPr>
              <a:t>6. Results, verification and a bug fixed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00" b="0" i="0">
                <a:solidFill>
                  <a:srgbClr val="64748B"/>
                </a:solidFill>
                <a:latin typeface="Calibri"/>
              </a:rPr>
              <a:t>Sentinel  ·  CSE 4102  ·  KUET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4748B"/>
                </a:solidFill>
                <a:latin typeface="Calibri"/>
              </a:rPr>
              <a:t>8 / 10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051560"/>
            <a:ext cx="5760720" cy="2788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DE5EE"/>
            </a:solidFill>
          </a:ln>
          <a:effectLst>
            <a:outerShdw blurRad="114300" dist="25400" dir="5400000" algn="t" rotWithShape="0">
              <a:srgbClr val="0B122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1161288"/>
            <a:ext cx="64008" cy="2569463"/>
          </a:xfrm>
          <a:prstGeom prst="rect">
            <a:avLst/>
          </a:prstGeom>
          <a:solidFill>
            <a:srgbClr val="0F8F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731520" y="1097280"/>
          <a:ext cx="5486400" cy="269748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48640" y="3931920"/>
            <a:ext cx="5760720" cy="4114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900" b="1" i="0">
                <a:solidFill>
                  <a:srgbClr val="0F8F85"/>
                </a:solidFill>
                <a:latin typeface="Calibri"/>
              </a:rPr>
              <a:t>11.3 ms</a:t>
            </a:r>
            <a:r>
              <a:rPr sz="1900" b="0" i="0">
                <a:solidFill>
                  <a:srgbClr val="1E293B"/>
                </a:solidFill>
                <a:latin typeface="Calibri"/>
              </a:rPr>
              <a:t> of the 16.7 ms budget at 1080p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548640" y="4434840"/>
          <a:ext cx="576072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97680"/>
                <a:gridCol w="1463040"/>
              </a:tblGrid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Verification</a:t>
                      </a:r>
                    </a:p>
                  </a:txBody>
                  <a:tcPr marT="18288" marB="18288">
                    <a:solidFill>
                      <a:srgbClr val="0F8F8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Count</a:t>
                      </a:r>
                    </a:p>
                  </a:txBody>
                  <a:tcPr marT="18288" marB="18288">
                    <a:solidFill>
                      <a:srgbClr val="0F8F85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E293B"/>
                          </a:solidFill>
                          <a:latin typeface="Calibri"/>
                        </a:rPr>
                        <a:t>Unit tests (13 packages)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E293B"/>
                          </a:solidFill>
                          <a:latin typeface="Calibri"/>
                        </a:rPr>
                        <a:t>281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E293B"/>
                          </a:solidFill>
                          <a:latin typeface="Calibri"/>
                        </a:rPr>
                        <a:t>TextureCheck (exact tiling)</a:t>
                      </a:r>
                    </a:p>
                  </a:txBody>
                  <a:tcPr marT="18288" marB="18288">
                    <a:solidFill>
                      <a:srgbClr val="E6F4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E293B"/>
                          </a:solidFill>
                          <a:latin typeface="Calibri"/>
                        </a:rPr>
                        <a:t>8,318</a:t>
                      </a:r>
                    </a:p>
                  </a:txBody>
                  <a:tcPr marT="18288" marB="18288">
                    <a:solidFill>
                      <a:srgbClr val="E6F4F2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E293B"/>
                          </a:solidFill>
                          <a:latin typeface="Calibri"/>
                        </a:rPr>
                        <a:t>RenderCheck (lighting probes)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E293B"/>
                          </a:solidFill>
                          <a:latin typeface="Calibri"/>
                        </a:rPr>
                        <a:t>318,567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E293B"/>
                          </a:solidFill>
                          <a:latin typeface="Calibri"/>
                        </a:rPr>
                        <a:t>Gpu, Window, Audio checks</a:t>
                      </a:r>
                    </a:p>
                  </a:txBody>
                  <a:tcPr marT="18288" marB="18288">
                    <a:solidFill>
                      <a:srgbClr val="E6F4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E293B"/>
                          </a:solidFill>
                          <a:latin typeface="Calibri"/>
                        </a:rPr>
                        <a:t>30, 141, 79</a:t>
                      </a:r>
                    </a:p>
                  </a:txBody>
                  <a:tcPr marT="18288" marB="18288">
                    <a:solidFill>
                      <a:srgbClr val="E6F4F2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E293B"/>
                          </a:solidFill>
                          <a:latin typeface="Calibri"/>
                        </a:rPr>
                        <a:t>Playthroughs, 5/5 objectives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E293B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6583680" y="1051560"/>
            <a:ext cx="5120640" cy="9601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F8F85"/>
                </a:solidFill>
                <a:latin typeface="Calibri"/>
              </a:rPr>
              <a:t>Bug: a vertical line at night. </a:t>
            </a:r>
            <a:r>
              <a:rPr sz="1500" b="0" i="0">
                <a:solidFill>
                  <a:srgbClr val="1E293B"/>
                </a:solidFill>
                <a:latin typeface="Calibri"/>
              </a:rPr>
              <a:t>Fog sampled the whole sky, so one horizon star streaked a column. Fix: fog uses the smooth atmosphere only.</a:t>
            </a:r>
          </a:p>
        </p:txBody>
      </p:sp>
      <p:pic>
        <p:nvPicPr>
          <p:cNvPr id="15" name="Picture 14" descr="gate_night_bug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83680" y="2103120"/>
            <a:ext cx="2487168" cy="1399032"/>
          </a:xfrm>
          <a:prstGeom prst="rect">
            <a:avLst/>
          </a:prstGeom>
          <a:ln w="28575">
            <a:solidFill>
              <a:srgbClr val="FFFFFF"/>
            </a:solidFill>
          </a:ln>
          <a:effectLst>
            <a:outerShdw blurRad="127000" dist="38100" dir="5400000" algn="t" rotWithShape="0">
              <a:srgbClr val="0B1220">
                <a:alpha val="24000"/>
              </a:srgbClr>
            </a:outerShdw>
          </a:effectLst>
        </p:spPr>
      </p:pic>
      <p:pic>
        <p:nvPicPr>
          <p:cNvPr id="16" name="Picture 15" descr="gate_night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17152" y="2103120"/>
            <a:ext cx="2487168" cy="1399032"/>
          </a:xfrm>
          <a:prstGeom prst="rect">
            <a:avLst/>
          </a:prstGeom>
          <a:ln w="28575">
            <a:solidFill>
              <a:srgbClr val="FFFFFF"/>
            </a:solidFill>
          </a:ln>
          <a:effectLst>
            <a:outerShdw blurRad="127000" dist="38100" dir="5400000" algn="t" rotWithShape="0">
              <a:srgbClr val="0B1220">
                <a:alpha val="24000"/>
              </a:srgbClr>
            </a:outerShdw>
          </a:effectLst>
        </p:spPr>
      </p:pic>
      <p:sp>
        <p:nvSpPr>
          <p:cNvPr id="17" name="TextBox 16"/>
          <p:cNvSpPr txBox="1"/>
          <p:nvPr/>
        </p:nvSpPr>
        <p:spPr>
          <a:xfrm>
            <a:off x="6583680" y="3538728"/>
            <a:ext cx="2487168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1">
                <a:solidFill>
                  <a:srgbClr val="64748B"/>
                </a:solidFill>
                <a:latin typeface="Calibri"/>
              </a:rPr>
              <a:t>Before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17152" y="3538728"/>
            <a:ext cx="2487168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1">
                <a:solidFill>
                  <a:srgbClr val="64748B"/>
                </a:solidFill>
                <a:latin typeface="Calibri"/>
              </a:rPr>
              <a:t>After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0" y="4114800"/>
            <a:ext cx="5120640" cy="2240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DE5EE"/>
            </a:solidFill>
          </a:ln>
          <a:effectLst>
            <a:outerShdw blurRad="114300" dist="25400" dir="5400000" algn="t" rotWithShape="0">
              <a:srgbClr val="0B122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583680" y="4224528"/>
            <a:ext cx="64008" cy="2020824"/>
          </a:xfrm>
          <a:prstGeom prst="rect">
            <a:avLst/>
          </a:prstGeom>
          <a:solidFill>
            <a:srgbClr val="0F8F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12280" y="4206240"/>
            <a:ext cx="4754879" cy="34747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0F8F85"/>
                </a:solidFill>
                <a:latin typeface="Calibri"/>
              </a:rPr>
              <a:t>LIMITS AND FUTURE WORK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12280" y="4572000"/>
            <a:ext cx="4754879" cy="170992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 marL="274320" indent="-274320">
              <a:lnSpc>
                <a:spcPct val="100000"/>
              </a:lnSpc>
              <a:spcAft>
                <a:spcPts val="300"/>
              </a:spcAft>
              <a:buClr>
                <a:srgbClr val="0F8F85"/>
              </a:buClr>
              <a:buChar char="▪"/>
            </a:pPr>
            <a:r>
              <a:rPr sz="1400" b="0" i="0">
                <a:solidFill>
                  <a:srgbClr val="1E293B"/>
                </a:solidFill>
                <a:latin typeface="Calibri"/>
              </a:rPr>
              <a:t>Blocky primitive models; no true global illumination; lumpy foliage</a:t>
            </a:r>
          </a:p>
          <a:p>
            <a:pPr algn="l" marL="274320" indent="-274320">
              <a:lnSpc>
                <a:spcPct val="100000"/>
              </a:lnSpc>
              <a:spcAft>
                <a:spcPts val="300"/>
              </a:spcAft>
              <a:buClr>
                <a:srgbClr val="0F8F85"/>
              </a:buClr>
              <a:buChar char="▪"/>
            </a:pPr>
            <a:r>
              <a:rPr sz="1400" b="0" i="0">
                <a:solidFill>
                  <a:srgbClr val="1E293B"/>
                </a:solidFill>
                <a:latin typeface="Calibri"/>
              </a:rPr>
              <a:t>Leaf cards, screen-space GI, point-light shadows, multiplayer</a:t>
            </a:r>
          </a:p>
          <a:p>
            <a:pPr algn="l" marL="274320" indent="-274320">
              <a:lnSpc>
                <a:spcPct val="100000"/>
              </a:lnSpc>
              <a:spcAft>
                <a:spcPts val="300"/>
              </a:spcAft>
              <a:buClr>
                <a:srgbClr val="0F8F85"/>
              </a:buClr>
              <a:buChar char="▪"/>
            </a:pPr>
            <a:r>
              <a:rPr sz="1400" b="0" i="0">
                <a:solidFill>
                  <a:srgbClr val="1E293B"/>
                </a:solidFill>
                <a:latin typeface="Calibri"/>
              </a:rPr>
              <a:t>Take-away: most "art" is a few simple ideas, applied consistently and tested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nten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head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86868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868680"/>
            <a:ext cx="12191695" cy="41148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274320"/>
            <a:ext cx="91440" cy="34747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18872"/>
            <a:ext cx="10515600" cy="6400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Georgia"/>
              </a:rPr>
              <a:t>7. Video tour of the project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00" b="0" i="0">
                <a:solidFill>
                  <a:srgbClr val="64748B"/>
                </a:solidFill>
                <a:latin typeface="Calibri"/>
              </a:rPr>
              <a:t>Sentinel  ·  CSE 4102  ·  KUET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4748B"/>
                </a:solidFill>
                <a:latin typeface="Calibri"/>
              </a:rPr>
              <a:t>9 / 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nten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head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86868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868680"/>
            <a:ext cx="12191695" cy="41148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274320"/>
            <a:ext cx="91440" cy="34747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18872"/>
            <a:ext cx="10515600" cy="6400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Georgia"/>
              </a:rPr>
              <a:t>References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00" b="0" i="0">
                <a:solidFill>
                  <a:srgbClr val="64748B"/>
                </a:solidFill>
                <a:latin typeface="Calibri"/>
              </a:rPr>
              <a:t>Sentinel  ·  CSE 4102  ·  KUET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4748B"/>
                </a:solidFill>
                <a:latin typeface="Calibri"/>
              </a:rPr>
              <a:t>10 / 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51560"/>
            <a:ext cx="5486400" cy="45720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0" i="0">
                <a:solidFill>
                  <a:srgbClr val="1E293B"/>
                </a:solidFill>
                <a:latin typeface="Calibri"/>
              </a:rPr>
              <a:t>[1] K. Perlin, "Improving noise," ACM TOG, 21(3), 2002.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0" i="0">
                <a:solidFill>
                  <a:srgbClr val="1E293B"/>
                </a:solidFill>
                <a:latin typeface="Calibri"/>
              </a:rPr>
              <a:t>[2] S. Worley, "A cellular texture basis function," SIGGRAPH, 1996.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0" i="0">
                <a:solidFill>
                  <a:srgbClr val="1E293B"/>
                </a:solidFill>
                <a:latin typeface="Calibri"/>
              </a:rPr>
              <a:t>[3] R. Cook, K. Torrance, "A reflectance model for computer graphics," ACM TOG, 1(1), 1982.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0" i="0">
                <a:solidFill>
                  <a:srgbClr val="1E293B"/>
                </a:solidFill>
                <a:latin typeface="Calibri"/>
              </a:rPr>
              <a:t>[4] B. Walter et al., "Microfacet models for refraction through rough surfaces," EGSR, 2007.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0" i="0">
                <a:solidFill>
                  <a:srgbClr val="1E293B"/>
                </a:solidFill>
                <a:latin typeface="Calibri"/>
              </a:rPr>
              <a:t>[5] B. Karis, "Real shading in Unreal Engine 4," SIGGRAPH Course, 2013.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0" i="0">
                <a:solidFill>
                  <a:srgbClr val="1E293B"/>
                </a:solidFill>
                <a:latin typeface="Calibri"/>
              </a:rPr>
              <a:t>[6] S. Hillaire, "A scalable and production ready sky and atmosphere rendering technique," CGF, 39(4), 2020.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0" i="0">
                <a:solidFill>
                  <a:srgbClr val="1E293B"/>
                </a:solidFill>
                <a:latin typeface="Calibri"/>
              </a:rPr>
              <a:t>[7] R. Dimitrov, "Cascaded shadow maps," NVIDIA, 2007.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0" i="0">
                <a:solidFill>
                  <a:srgbClr val="1E293B"/>
                </a:solidFill>
                <a:latin typeface="Calibri"/>
              </a:rPr>
              <a:t>[8] M. Oren, S. Nayar, "Generalization of Lambert's reflectance model," SIGGRAPH, 1994.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63640" y="1051560"/>
            <a:ext cx="5486400" cy="45720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0" i="0">
                <a:solidFill>
                  <a:srgbClr val="1E293B"/>
                </a:solidFill>
                <a:latin typeface="Calibri"/>
              </a:rPr>
              <a:t>[9] K. Narkowicz, "ACES filmic tone mapping curve," 2016.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0" i="0">
                <a:solidFill>
                  <a:srgbClr val="1E293B"/>
                </a:solidFill>
                <a:latin typeface="Calibri"/>
              </a:rPr>
              <a:t>[10] J. Jimenez, "Next generation post processing in Call of Duty: Advanced Warfare," SIGGRAPH, 2014.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0" i="0">
                <a:solidFill>
                  <a:srgbClr val="1E293B"/>
                </a:solidFill>
                <a:latin typeface="Calibri"/>
              </a:rPr>
              <a:t>[11] T. Lottes, "FXAA," NVIDIA, 2009.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0" i="0">
                <a:solidFill>
                  <a:srgbClr val="1E293B"/>
                </a:solidFill>
                <a:latin typeface="Calibri"/>
              </a:rPr>
              <a:t>[12] M. Segal, K. Akeley, The OpenGL Graphics System, v4.1, Khronos, 2010.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0" i="0">
                <a:solidFill>
                  <a:srgbClr val="1E293B"/>
                </a:solidFill>
                <a:latin typeface="Calibri"/>
              </a:rPr>
              <a:t>[13] I. Quilez, "Domain warping," iquilezles.org.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0" i="0">
                <a:solidFill>
                  <a:srgbClr val="1E293B"/>
                </a:solidFill>
                <a:latin typeface="Calibri"/>
              </a:rPr>
              <a:t>[14] S. Hargreaves, M. Harris, "Deferred shading," NVIDIA, GDC 2004.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0" i="0">
                <a:solidFill>
                  <a:srgbClr val="1E293B"/>
                </a:solidFill>
                <a:latin typeface="Calibri"/>
              </a:rPr>
              <a:t>[15] H. Scharr, "Optimal operators in digital image processing," Ph.D., Heidelberg, 2000.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0" i="0">
                <a:solidFill>
                  <a:srgbClr val="1E293B"/>
                </a:solidFill>
                <a:latin typeface="Calibri"/>
              </a:rPr>
              <a:t>[16] T. Akenine-Möller et al., Real-Time Rendering, 4th ed., CRC Press, 2018.</a:t>
            </a:r>
          </a:p>
        </p:txBody>
      </p:sp>
      <p:pic>
        <p:nvPicPr>
          <p:cNvPr id="11" name="Picture 10" descr="band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5715000"/>
            <a:ext cx="12191695" cy="114300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640080" y="5852160"/>
            <a:ext cx="73152" cy="82296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5852160"/>
            <a:ext cx="4572000" cy="82296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Georgia"/>
              </a:rPr>
              <a:t>Thank you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0" y="5852160"/>
            <a:ext cx="6309360" cy="82296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200"/>
              </a:spcAft>
            </a:pPr>
            <a:r>
              <a:rPr sz="1800" b="0" i="0">
                <a:solidFill>
                  <a:srgbClr val="C7D2E0"/>
                </a:solidFill>
                <a:latin typeface="Calibri"/>
              </a:rPr>
              <a:t>Questions are welcome</a:t>
            </a:r>
          </a:p>
          <a:p>
            <a:pPr algn="r">
              <a:lnSpc>
                <a:spcPct val="100000"/>
              </a:lnSpc>
              <a:spcAft>
                <a:spcPts val="200"/>
              </a:spcAft>
            </a:pPr>
            <a:r>
              <a:rPr sz="1800" b="0" i="0">
                <a:solidFill>
                  <a:srgbClr val="C7D2E0"/>
                </a:solidFill>
                <a:latin typeface="Calibri"/>
              </a:rPr>
              <a:t>Md. Shifat Hasan  ·  Roll 2107067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