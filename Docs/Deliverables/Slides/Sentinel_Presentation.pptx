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/>
              <a:t>GPU time per pass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 ms</c:v>
                </c:pt>
              </c:strCache>
            </c:strRef>
          </c:tx>
          <c:spPr>
            <a:solidFill>
              <a:srgbClr val="007A3D"/>
            </a:solidFill>
          </c:spPr>
          <c:cat>
            <c:strRef>
              <c:f>Sheet1!$A$2:$A$7</c:f>
              <c:strCache>
                <c:ptCount val="6"/>
                <c:pt idx="0">
                  <c:v>Sky table</c:v>
                </c:pt>
                <c:pt idx="1">
                  <c:v>Post</c:v>
                </c:pt>
                <c:pt idx="2">
                  <c:v>SSAO</c:v>
                </c:pt>
                <c:pt idx="3">
                  <c:v>Shadows</c:v>
                </c:pt>
                <c:pt idx="4">
                  <c:v>Lighting</c:v>
                </c:pt>
                <c:pt idx="5">
                  <c:v>Geometry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1.21</c:v>
                </c:pt>
                <c:pt idx="2">
                  <c:v>1.2</c:v>
                </c:pt>
                <c:pt idx="3">
                  <c:v>1.58</c:v>
                </c:pt>
                <c:pt idx="4">
                  <c:v>2.79</c:v>
                </c:pt>
                <c:pt idx="5">
                  <c:v>4.11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0"/>
            <a:ext cx="109728" cy="68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9601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A9B4C2"/>
                </a:solidFill>
                <a:latin typeface="Calibri"/>
              </a:rPr>
              <a:t>KHULNA UNIVERSITY OF ENGINEERING &amp; TECHNOLOGY   |   CSE 4102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737360"/>
            <a:ext cx="9144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0" b="1" i="0">
                <a:solidFill>
                  <a:srgbClr val="FFFFFF"/>
                </a:solidFill>
                <a:latin typeface="Georgia"/>
              </a:rPr>
              <a:t>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154680"/>
            <a:ext cx="96012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Calibri"/>
              </a:rPr>
              <a:t>A Fully Procedural Game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Calibri"/>
              </a:rPr>
              <a:t>and Open-World Military Shooter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4434840"/>
            <a:ext cx="1463040" cy="54864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663440"/>
            <a:ext cx="91440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D0D8E2"/>
                </a:solidFill>
                <a:latin typeface="Calibri"/>
              </a:rPr>
              <a:t>Nothing is loaded from a model, image or sound file: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D0D8E2"/>
                </a:solidFill>
                <a:latin typeface="Calibri"/>
              </a:rPr>
              <a:t>everything is generated from code and a seed.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989320"/>
            <a:ext cx="50292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Md. Shifat Hasan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A9B4C2"/>
                </a:solidFill>
                <a:latin typeface="Calibri"/>
              </a:rPr>
              <a:t>Roll 2107067  ·  4th Year 1st 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5989320"/>
            <a:ext cx="493776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A9B4C2"/>
                </a:solidFill>
                <a:latin typeface="Calibri"/>
              </a:rPr>
              <a:t>Instructors: Md Tajmilur Rahman, Md. Mubtashim Abrar Nihal</a:t>
            </a:r>
          </a:p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A9B4C2"/>
                </a:solidFill>
                <a:latin typeface="Calibri"/>
              </a:rPr>
              <a:t>Computer Graphics and Image Processing Laboratory  · 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2 / 10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344168"/>
            <a:ext cx="457200" cy="457200"/>
          </a:xfrm>
          <a:prstGeom prst="ellipse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44168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4416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0F1B2D"/>
                </a:solidFill>
                <a:latin typeface="Calibri"/>
              </a:rPr>
              <a:t>Problem, objectives and architecture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57400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0F1B2D"/>
                </a:solidFill>
                <a:latin typeface="Calibri"/>
              </a:rPr>
              <a:t>Procedural shapes and textures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70632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770632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0F1B2D"/>
                </a:solidFill>
                <a:latin typeface="Calibri"/>
              </a:rPr>
              <a:t>The rendering pipeline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83864"/>
            <a:ext cx="457200" cy="457200"/>
          </a:xfrm>
          <a:prstGeom prst="ellipse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83864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483864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0F1B2D"/>
                </a:solidFill>
                <a:latin typeface="Calibri"/>
              </a:rPr>
              <a:t>World, physics and gameplay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197096"/>
            <a:ext cx="457200" cy="457200"/>
          </a:xfrm>
          <a:prstGeom prst="ellipse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97096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197096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0F1B2D"/>
                </a:solidFill>
                <a:latin typeface="Calibri"/>
              </a:rPr>
              <a:t>Results and verification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910328"/>
            <a:ext cx="457200" cy="457200"/>
          </a:xfrm>
          <a:prstGeom prst="ellipse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10328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91032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0F1B2D"/>
                </a:solidFill>
                <a:latin typeface="Calibri"/>
              </a:rPr>
              <a:t>Challenge, limits and future work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623560"/>
            <a:ext cx="457200" cy="457200"/>
          </a:xfrm>
          <a:prstGeom prst="ellipse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623560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623560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0F1B2D"/>
                </a:solidFill>
                <a:latin typeface="Calibri"/>
              </a:rPr>
              <a:t>Video tour of the project</a:t>
            </a:r>
          </a:p>
        </p:txBody>
      </p:sp>
      <p:pic>
        <p:nvPicPr>
          <p:cNvPr id="27" name="Picture 26" descr="show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554480"/>
            <a:ext cx="4572000" cy="2571750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086600" y="421767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1">
                <a:solidFill>
                  <a:srgbClr val="5A6673"/>
                </a:solidFill>
                <a:latin typeface="Calibri"/>
              </a:rPr>
              <a:t>Every material is a code-generated recipe.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Problem, objectives and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8521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 i="0">
                <a:solidFill>
                  <a:srgbClr val="0F1B2D"/>
                </a:solidFill>
                <a:latin typeface="Calibri"/>
              </a:rPr>
              <a:t>Can a complete, playable 3D game be made by code alone on a student laptop?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852160" cy="150876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73152" cy="150876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84832"/>
            <a:ext cx="5577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07A3D"/>
                </a:solidFill>
                <a:latin typeface="Calibri"/>
              </a:rPr>
              <a:t>Two hard 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5577840" cy="97840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800" b="0" i="0">
                <a:solidFill>
                  <a:srgbClr val="0F1B2D"/>
                </a:solidFill>
                <a:latin typeface="Calibri"/>
              </a:rPr>
              <a:t>No model, image or precomputed data file</a:t>
            </a:r>
          </a:p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800" b="0" i="0">
                <a:solidFill>
                  <a:srgbClr val="0F1B2D"/>
                </a:solidFill>
                <a:latin typeface="Calibri"/>
              </a:rPr>
              <a:t>macOS OpenGL 4.1: no compute shaders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5852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07A3D"/>
                </a:solidFill>
                <a:latin typeface="Calibri"/>
              </a:rPr>
              <a:t>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5852160" cy="2377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0F1B2D"/>
                </a:solidFill>
                <a:latin typeface="Calibri"/>
              </a:rPr>
              <a:t>Layered engine with downward-only dependencies</a:t>
            </a:r>
          </a:p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0F1B2D"/>
                </a:solidFill>
                <a:latin typeface="Calibri"/>
              </a:rPr>
              <a:t>All meshes, textures and sounds from code and seeds</a:t>
            </a:r>
          </a:p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0F1B2D"/>
                </a:solidFill>
                <a:latin typeface="Calibri"/>
              </a:rPr>
              <a:t>Modern renderer: PBR, shadows, sky, post-processing</a:t>
            </a:r>
          </a:p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0F1B2D"/>
                </a:solidFill>
                <a:latin typeface="Calibri"/>
              </a:rPr>
              <a:t>Playable game: vehicles, ladders, doors, mission</a:t>
            </a:r>
          </a:p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0F1B2D"/>
                </a:solidFill>
                <a:latin typeface="Calibri"/>
              </a:rPr>
              <a:t>Verified by tests and a 16.7 ms frame budget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1234440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DCEEE2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234440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0F1B2D"/>
                </a:solidFill>
                <a:latin typeface="Calibri"/>
              </a:rPr>
              <a:t>Game: mission, AI, vehicles, sound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020824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D2E6DA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020824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0F1B2D"/>
                </a:solidFill>
                <a:latin typeface="Calibri"/>
              </a:rPr>
              <a:t>Render: deferred, lights, sky, post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2807208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C8DED2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807208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0F1B2D"/>
                </a:solidFill>
                <a:latin typeface="Calibri"/>
              </a:rPr>
              <a:t>World: collision, terrain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3593591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BED6CA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593591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0F1B2D"/>
                </a:solidFill>
                <a:latin typeface="Calibri"/>
              </a:rPr>
              <a:t>Procedural: noise, textures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4379976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B4CEC2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379976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0F1B2D"/>
                </a:solidFill>
                <a:latin typeface="Calibri"/>
              </a:rPr>
              <a:t>GPU: shaders, buffers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5166360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AAC6BA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5166360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0F1B2D"/>
                </a:solidFill>
                <a:latin typeface="Calibri"/>
              </a:rPr>
              <a:t>Platform: window, input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475720" y="1280160"/>
            <a:ext cx="0" cy="4526280"/>
          </a:xfrm>
          <a:prstGeom prst="line">
            <a:avLst/>
          </a:prstGeom>
          <a:ln w="25400">
            <a:solidFill>
              <a:srgbClr val="007A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0" y="59893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1">
                <a:solidFill>
                  <a:srgbClr val="5A6673"/>
                </a:solidFill>
                <a:latin typeface="Calibri"/>
              </a:rPr>
              <a:t>A lower layer never knows a higher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Procedural shapes and textures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4 / 10</a:t>
            </a:r>
          </a:p>
        </p:txBody>
      </p:sp>
      <p:pic>
        <p:nvPicPr>
          <p:cNvPr id="6" name="Picture 5" descr="nois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51560"/>
            <a:ext cx="8503920" cy="1669481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828800" y="2748473"/>
            <a:ext cx="8503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5A6673"/>
                </a:solidFill>
                <a:latin typeface="Calibri"/>
              </a:rPr>
              <a:t>gradient, fractal, warped, ridged and cellular noise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78241"/>
            <a:ext cx="5303520" cy="31768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33105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07A3D"/>
                </a:solidFill>
                <a:latin typeface="Calibri"/>
              </a:rPr>
              <a:t>Fractal noise (tiles exactly)</a:t>
            </a:r>
          </a:p>
        </p:txBody>
      </p:sp>
      <p:pic>
        <p:nvPicPr>
          <p:cNvPr id="10" name="Picture 9" descr="frac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3589721"/>
            <a:ext cx="5029200" cy="15551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372801"/>
            <a:ext cx="49377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07A3D"/>
                </a:solidFill>
                <a:latin typeface="Calibri"/>
              </a:rPr>
              <a:t>Vertex push by a noise deformer</a:t>
            </a:r>
          </a:p>
        </p:txBody>
      </p:sp>
      <p:pic>
        <p:nvPicPr>
          <p:cNvPr id="12" name="Picture 11" descr="pu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84281"/>
            <a:ext cx="4846320" cy="3924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7920" y="3178241"/>
            <a:ext cx="5486400" cy="3108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0F1B2D"/>
                </a:solidFill>
                <a:latin typeface="Calibri"/>
              </a:rPr>
              <a:t>18 recipes → 22 materials, baked once at 1024²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0F1B2D"/>
                </a:solidFill>
                <a:latin typeface="Calibri"/>
              </a:rPr>
              <a:t>Scharr filter turns height into bumps; crevices darken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0F1B2D"/>
                </a:solidFill>
                <a:latin typeface="Calibri"/>
              </a:rPr>
              <a:t>Objects are tables of primitives plus noise deformers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0F1B2D"/>
                </a:solidFill>
                <a:latin typeface="Calibri"/>
              </a:rPr>
              <a:t>Soldiers: skeletons with two-bone IK legs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The rendering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Sky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table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1463040"/>
            <a:ext cx="182880" cy="0"/>
          </a:xfrm>
          <a:prstGeom prst="line">
            <a:avLst/>
          </a:prstGeom>
          <a:ln w="19050">
            <a:solidFill>
              <a:srgbClr val="007A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488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Shadows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3 cascades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566160" y="1463040"/>
            <a:ext cx="182880" cy="0"/>
          </a:xfrm>
          <a:prstGeom prst="line">
            <a:avLst/>
          </a:prstGeom>
          <a:ln w="19050">
            <a:solidFill>
              <a:srgbClr val="007A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49039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Geometry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G-buffer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66359" y="1463040"/>
            <a:ext cx="182881" cy="0"/>
          </a:xfrm>
          <a:prstGeom prst="line">
            <a:avLst/>
          </a:prstGeom>
          <a:ln w="19050">
            <a:solidFill>
              <a:srgbClr val="007A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492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SSAO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66559" y="1463040"/>
            <a:ext cx="182881" cy="0"/>
          </a:xfrm>
          <a:prstGeom prst="line">
            <a:avLst/>
          </a:prstGeom>
          <a:ln w="19050">
            <a:solidFill>
              <a:srgbClr val="007A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494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Lighting,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reflect, fog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66760" y="1463040"/>
            <a:ext cx="182880" cy="0"/>
          </a:xfrm>
          <a:prstGeom prst="line">
            <a:avLst/>
          </a:prstGeom>
          <a:ln w="19050">
            <a:solidFill>
              <a:srgbClr val="007A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5496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Smoke,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fire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966960" y="1463040"/>
            <a:ext cx="182880" cy="0"/>
          </a:xfrm>
          <a:prstGeom prst="line">
            <a:avLst/>
          </a:prstGeom>
          <a:ln w="19050">
            <a:solidFill>
              <a:srgbClr val="007A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1498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Bloom, ACES,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FXAA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01168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Deferred shading: </a:t>
            </a:r>
            <a:r>
              <a:rPr sz="1700" b="0" i="0">
                <a:solidFill>
                  <a:srgbClr val="0F1B2D"/>
                </a:solidFill>
                <a:latin typeface="Calibri"/>
              </a:rPr>
              <a:t>store each pixel's colour, normal, shininess and depth first, then light it once; many lights stay cheap.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2926080"/>
            <a:ext cx="63093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971800"/>
            <a:ext cx="5943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07A3D"/>
                </a:solidFill>
                <a:latin typeface="Calibri"/>
              </a:rPr>
              <a:t>Cook–Torrance reflection</a:t>
            </a:r>
          </a:p>
        </p:txBody>
      </p:sp>
      <p:pic>
        <p:nvPicPr>
          <p:cNvPr id="29" name="Picture 28" descr="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37560"/>
            <a:ext cx="5943600" cy="668753"/>
          </a:xfrm>
          <a:prstGeom prst="rect">
            <a:avLst/>
          </a:prstGeom>
        </p:spPr>
      </p:pic>
      <p:pic>
        <p:nvPicPr>
          <p:cNvPr id="30" name="Picture 29" descr="fres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51960"/>
            <a:ext cx="2926080" cy="3290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800" y="4709160"/>
            <a:ext cx="5943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07A3D"/>
                </a:solidFill>
                <a:latin typeface="Calibri"/>
              </a:rPr>
              <a:t>Fog and tone map</a:t>
            </a:r>
          </a:p>
        </p:txBody>
      </p:sp>
      <p:pic>
        <p:nvPicPr>
          <p:cNvPr id="32" name="Picture 31" descr="f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074920"/>
            <a:ext cx="2834640" cy="265084"/>
          </a:xfrm>
          <a:prstGeom prst="rect">
            <a:avLst/>
          </a:prstGeom>
        </p:spPr>
      </p:pic>
      <p:pic>
        <p:nvPicPr>
          <p:cNvPr id="33" name="Picture 32" descr="a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4983480"/>
            <a:ext cx="2743200" cy="558209"/>
          </a:xfrm>
          <a:prstGeom prst="rect">
            <a:avLst/>
          </a:prstGeom>
        </p:spPr>
      </p:pic>
      <p:pic>
        <p:nvPicPr>
          <p:cNvPr id="34" name="Picture 33" descr="dus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2057400"/>
            <a:ext cx="4572000" cy="2571750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sp>
        <p:nvSpPr>
          <p:cNvPr id="35" name="TextBox 34"/>
          <p:cNvSpPr txBox="1"/>
          <p:nvPr/>
        </p:nvSpPr>
        <p:spPr>
          <a:xfrm>
            <a:off x="7178040" y="4702302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1">
                <a:solidFill>
                  <a:srgbClr val="5A6673"/>
                </a:solidFill>
                <a:latin typeface="Calibri"/>
              </a:rPr>
              <a:t>Dusk: sun, sky, haze, shadows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177790"/>
            <a:ext cx="45720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F1B2D"/>
                </a:solidFill>
                <a:latin typeface="Calibri"/>
              </a:rPr>
              <a:t>Sun, moon, lamps, cascaded shadows, SSAO, screen-space reflections, bloom and FXAA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World, physics and gameplay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6035040" cy="374903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0F1B2D"/>
                </a:solidFill>
                <a:latin typeface="Calibri"/>
              </a:rPr>
              <a:t>Sky: </a:t>
            </a:r>
            <a:r>
              <a:rPr sz="1900" b="0" i="0">
                <a:solidFill>
                  <a:srgbClr val="0F1B2D"/>
                </a:solidFill>
                <a:latin typeface="Calibri"/>
              </a:rPr>
              <a:t>sun height from astronomy, scattering sky, wind-driven clouds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0F1B2D"/>
                </a:solidFill>
                <a:latin typeface="Calibri"/>
              </a:rPr>
              <a:t>Terrain: </a:t>
            </a:r>
            <a:r>
              <a:rPr sz="1900" b="0" i="0">
                <a:solidFill>
                  <a:srgbClr val="0F1B2D"/>
                </a:solidFill>
                <a:latin typeface="Calibri"/>
              </a:rPr>
              <a:t>warped ridged noise, streamed in 64 m chunks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0F1B2D"/>
                </a:solidFill>
                <a:latin typeface="Calibri"/>
              </a:rPr>
              <a:t>Trees: </a:t>
            </a:r>
            <a:r>
              <a:rPr sz="1900" b="0" i="0">
                <a:solidFill>
                  <a:srgbClr val="0F1B2D"/>
                </a:solidFill>
                <a:latin typeface="Calibri"/>
              </a:rPr>
              <a:t>4 species, swaying in the wind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0F1B2D"/>
                </a:solidFill>
                <a:latin typeface="Calibri"/>
              </a:rPr>
              <a:t>Vehicles: </a:t>
            </a:r>
            <a:r>
              <a:rPr sz="1900" b="0" i="0">
                <a:solidFill>
                  <a:srgbClr val="0F1B2D"/>
                </a:solidFill>
                <a:latin typeface="Calibri"/>
              </a:rPr>
              <a:t>jeep, truck, carrier, tank, helicopter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0F1B2D"/>
                </a:solidFill>
                <a:latin typeface="Calibri"/>
              </a:rPr>
              <a:t>Ladders: </a:t>
            </a:r>
            <a:r>
              <a:rPr sz="1900" b="0" i="0">
                <a:solidFill>
                  <a:srgbClr val="0F1B2D"/>
                </a:solidFill>
                <a:latin typeface="Calibri"/>
              </a:rPr>
              <a:t>4-state grip machine, hands on rungs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0F1B2D"/>
                </a:solidFill>
                <a:latin typeface="Calibri"/>
              </a:rPr>
              <a:t>Mission: </a:t>
            </a:r>
            <a:r>
              <a:rPr sz="1900" b="0" i="0">
                <a:solidFill>
                  <a:srgbClr val="0F1B2D"/>
                </a:solidFill>
                <a:latin typeface="Calibri"/>
              </a:rPr>
              <a:t>hack, destroy, rescue, extract; stealth AI; synthesised sound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92040"/>
            <a:ext cx="60350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74920"/>
            <a:ext cx="2651760" cy="698608"/>
          </a:xfrm>
          <a:prstGeom prst="rect">
            <a:avLst/>
          </a:prstGeom>
        </p:spPr>
      </p:pic>
      <p:pic>
        <p:nvPicPr>
          <p:cNvPr id="9" name="Picture 8" descr="bi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5074920"/>
            <a:ext cx="1442923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852160"/>
            <a:ext cx="29260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5A6673"/>
                </a:solidFill>
                <a:latin typeface="Calibri"/>
              </a:rPr>
              <a:t>cloud plane and wind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5852160"/>
            <a:ext cx="2468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5A6673"/>
                </a:solidFill>
                <a:latin typeface="Calibri"/>
              </a:rPr>
              <a:t>bicycle steering</a:t>
            </a:r>
          </a:p>
        </p:txBody>
      </p:sp>
      <p:pic>
        <p:nvPicPr>
          <p:cNvPr id="12" name="Picture 11" descr="gate_da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097280"/>
            <a:ext cx="4754880" cy="2674620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pic>
        <p:nvPicPr>
          <p:cNvPr id="13" name="Picture 12" descr="ladd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3909060"/>
            <a:ext cx="2304288" cy="1296162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pic>
        <p:nvPicPr>
          <p:cNvPr id="14" name="Picture 13" descr="tre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0032" y="3909060"/>
            <a:ext cx="2304288" cy="1296162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949440" y="5250942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5A6673"/>
                </a:solidFill>
                <a:latin typeface="Calibri"/>
              </a:rPr>
              <a:t>Day sky, ladder climb, and tree species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5. Results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05156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58521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007A3D"/>
                </a:solidFill>
                <a:latin typeface="Calibri"/>
              </a:rPr>
              <a:t>10.9 ms</a:t>
            </a:r>
            <a:r>
              <a:rPr sz="2000" b="0" i="0">
                <a:solidFill>
                  <a:srgbClr val="0F1B2D"/>
                </a:solidFill>
                <a:latin typeface="Calibri"/>
              </a:rPr>
              <a:t> of the 16.7 ms budget at 1080p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526280"/>
          <a:ext cx="58521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55448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T="18288" marB="18288">
                    <a:solidFill>
                      <a:srgbClr val="007A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18288" marB="18288">
                    <a:solidFill>
                      <a:srgbClr val="007A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Unit tests (13 packages)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TextureCheck (exact tiling)</a:t>
                      </a:r>
                    </a:p>
                  </a:txBody>
                  <a:tcPr marT="18288" marB="18288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T="18288" marB="18288">
                    <a:solidFill>
                      <a:srgbClr val="E8F3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RenderCheck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318,567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GpuCheck</a:t>
                      </a:r>
                    </a:p>
                  </a:txBody>
                  <a:tcPr marT="18288" marB="18288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T="18288" marB="18288">
                    <a:solidFill>
                      <a:srgbClr val="E8F3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Playthroughs, 5/5 objectives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1B2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h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097280"/>
            <a:ext cx="4297680" cy="2417445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pic>
        <p:nvPicPr>
          <p:cNvPr id="10" name="Picture 9" descr="ma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3651885"/>
            <a:ext cx="4297680" cy="2417445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223760" y="6115050"/>
            <a:ext cx="4297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5A6673"/>
                </a:solidFill>
                <a:latin typeface="Calibri"/>
              </a:rPr>
              <a:t>Headquarters, and the tactical map with objectives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6. Challenge solved, limits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07A3D"/>
                </a:solidFill>
                <a:latin typeface="Calibri"/>
              </a:rPr>
              <a:t>Bug: a bright vertical line at night. </a:t>
            </a:r>
            <a:r>
              <a:rPr sz="1800" b="0" i="0">
                <a:solidFill>
                  <a:srgbClr val="0F1B2D"/>
                </a:solidFill>
                <a:latin typeface="Calibri"/>
              </a:rPr>
              <a:t>The fog colour sampled the whole sky, so one horizon star painted a streak on every surface in its column. Fix: fog uses the smooth atmosphere only.</a:t>
            </a:r>
          </a:p>
        </p:txBody>
      </p:sp>
      <p:pic>
        <p:nvPicPr>
          <p:cNvPr id="7" name="Picture 6" descr="gate_night_bu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200400" cy="1800225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3930777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5A6673"/>
                </a:solidFill>
                <a:latin typeface="Calibri"/>
              </a:rPr>
              <a:t>Before (streak left of centre)</a:t>
            </a:r>
          </a:p>
        </p:txBody>
      </p:sp>
      <p:pic>
        <p:nvPicPr>
          <p:cNvPr id="9" name="Picture 8" descr="gate_n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60545"/>
            <a:ext cx="3200400" cy="1800225"/>
          </a:xfrm>
          <a:prstGeom prst="rect">
            <a:avLst/>
          </a:prstGeom>
          <a:ln w="9525">
            <a:solidFill>
              <a:srgbClr val="C9D3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18820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5A6673"/>
                </a:solidFill>
                <a:latin typeface="Calibri"/>
              </a:rPr>
              <a:t>After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103120"/>
            <a:ext cx="7223760" cy="118872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2103120"/>
            <a:ext cx="73152" cy="118872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176272"/>
            <a:ext cx="6949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07A3D"/>
                </a:solidFill>
                <a:latin typeface="Calibri"/>
              </a:rP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560320"/>
            <a:ext cx="6949440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0F1B2D"/>
                </a:solidFill>
                <a:latin typeface="Calibri"/>
              </a:rPr>
              <a:t>Blocky primitive models; no true global illumination; lumpy foliage; tuned by scripts and screenshots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429000"/>
            <a:ext cx="7223760" cy="118872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429000"/>
            <a:ext cx="73152" cy="118872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502152"/>
            <a:ext cx="6949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07A3D"/>
                </a:solidFill>
                <a:latin typeface="Calibri"/>
              </a:rPr>
              <a:t>Future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886200"/>
            <a:ext cx="6949440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0F1B2D"/>
                </a:solidFill>
                <a:latin typeface="Calibri"/>
              </a:rPr>
              <a:t>Leaf cards, screen-space GI, point-light shadows, multiplayer, a compute-shader 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4754880"/>
            <a:ext cx="7223760" cy="118872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4754880"/>
            <a:ext cx="73152" cy="118872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828032"/>
            <a:ext cx="6949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07A3D"/>
                </a:solidFill>
                <a:latin typeface="Calibri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5212080"/>
            <a:ext cx="6949440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0F1B2D"/>
                </a:solidFill>
                <a:latin typeface="Calibri"/>
              </a:rPr>
              <a:t>Most "art" is a few simple ideas, applied consistently and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7. Video tour of the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86868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6673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[1] K. Perlin, "Improving noise," ACM TOG, 21(3), 2002.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[2] S. Worley, "A cellular texture basis function," SIGGRAPH, 1996.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[3] R. Cook, K. Torrance, "A reflectance model for computer graphics," ACM TOG, 1(1), 1982.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[4] B. Walter et al., "Microfacet models for refraction through rough surfaces," EGSR,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[5] B. Karis, "Real shading in Unreal Engine 4," SIGGRAPH Course, 2013.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[6] S. Hillaire, "A scalable and production ready sky and atmosphere rendering technique," CGF, 39(4), 2020.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[7] R. Dimitrov, "Cascaded shadow maps," NVIDIA,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[8] M. Oren, S. Nayar, "Generalization of Lambert's reflectance model," SIGGRAPH, 1994.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[9] K. Narkowicz, "ACES filmic tone mapping curve," 2016.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[10] J. Jimenez, "Next generation post processing in Call of Duty: Advanced Warfare," SIGGRAPH, 2014.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[11] T. Lottes, "FXAA," NVIDIA, 2009.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[12] M. Segal, K. Akeley, The OpenGL Graphics System, v4.1, Khronos, 2010.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[13] I. Quilez, "Domain warping," iquilezles.org.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[14] S. Hargreaves, M. Harris, "Deferred shading," NVIDIA, GDC 2004.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[15] H. Scharr, "Optimal operators in digital image processing," Ph.D., Heidelberg, 2000.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0F1B2D"/>
                </a:solidFill>
                <a:latin typeface="Calibri"/>
              </a:rPr>
              <a:t>[16] T. Akenine-Möller et al., Real-Time Rendering, 4th ed., CRC Press, 2018.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15000"/>
            <a:ext cx="201168" cy="1143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85216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D0D8E2"/>
                </a:solidFill>
                <a:latin typeface="Calibri"/>
              </a:rPr>
              <a:t>Questions are welcome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D0D8E2"/>
                </a:solidFill>
                <a:latin typeface="Calibri"/>
              </a:rPr>
              <a:t>Md. Shifat Hasan  ·  Roll 2107067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