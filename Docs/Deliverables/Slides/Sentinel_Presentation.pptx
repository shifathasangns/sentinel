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E293B"/>
                </a:solidFill>
              </a:rPr>
              <a:t>GPU time per pass (ms)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GPU ms</c:v>
                </c:pt>
              </c:strCache>
            </c:strRef>
          </c:tx>
          <c:spPr>
            <a:solidFill>
              <a:srgbClr val="0F8F85"/>
            </a:solidFill>
          </c:spPr>
          <c:cat>
            <c:strRef>
              <c:f>Sheet1!$A$2:$A$7</c:f>
              <c:strCache>
                <c:ptCount val="6"/>
                <c:pt idx="0">
                  <c:v>Sky table</c:v>
                </c:pt>
                <c:pt idx="1">
                  <c:v>Post</c:v>
                </c:pt>
                <c:pt idx="2">
                  <c:v>SSAO</c:v>
                </c:pt>
                <c:pt idx="3">
                  <c:v>Shadows</c:v>
                </c:pt>
                <c:pt idx="4">
                  <c:v>Lighting</c:v>
                </c:pt>
                <c:pt idx="5">
                  <c:v>Geometry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0.02</c:v>
                </c:pt>
                <c:pt idx="1">
                  <c:v>1.21</c:v>
                </c:pt>
                <c:pt idx="2">
                  <c:v>1.2</c:v>
                </c:pt>
                <c:pt idx="3">
                  <c:v>1.58</c:v>
                </c:pt>
                <c:pt idx="4">
                  <c:v>2.79</c:v>
                </c:pt>
                <c:pt idx="5">
                  <c:v>4.11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4.jpg"/><Relationship Id="rId12" Type="http://schemas.openxmlformats.org/officeDocument/2006/relationships/image" Target="../media/image2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chart" Target="../charts/chart1.xml"/><Relationship Id="rId5" Type="http://schemas.openxmlformats.org/officeDocument/2006/relationships/image" Target="../media/image27.jpg"/><Relationship Id="rId6" Type="http://schemas.openxmlformats.org/officeDocument/2006/relationships/image" Target="../media/image2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2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685800"/>
            <a:ext cx="96012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C7D2E0"/>
                </a:solidFill>
                <a:latin typeface="Calibri"/>
              </a:rPr>
              <a:t>KHULNA UNIVERSITY OF ENGINEERING &amp; TECHNOLOGY   ·   CSE 4102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1143000"/>
            <a:ext cx="82296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05840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800" b="1" i="0">
                <a:solidFill>
                  <a:srgbClr val="FFFFFF"/>
                </a:solidFill>
                <a:latin typeface="Georgia"/>
              </a:rPr>
              <a:t>Sentinel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>
                <a:solidFill>
                  <a:srgbClr val="E6FBF8"/>
                </a:solidFill>
                <a:latin typeface="Calibri"/>
              </a:rPr>
              <a:t>A Fully Procedural Game Engine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>
                <a:solidFill>
                  <a:srgbClr val="E6FBF8"/>
                </a:solidFill>
                <a:latin typeface="Calibri"/>
              </a:rPr>
              <a:t>and Open-World Military Shooter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60520"/>
            <a:ext cx="822960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1">
                <a:solidFill>
                  <a:srgbClr val="2DD4BF"/>
                </a:solidFill>
                <a:latin typeface="Calibri"/>
              </a:rPr>
              <a:t>Nothing is loaded from a model, image or sound file: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1">
                <a:solidFill>
                  <a:srgbClr val="2DD4BF"/>
                </a:solidFill>
                <a:latin typeface="Calibri"/>
              </a:rPr>
              <a:t>everything is generated from code and a seed.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897880"/>
            <a:ext cx="502920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Md. Shifat Hasan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300" b="0" i="0">
                <a:solidFill>
                  <a:srgbClr val="C7D2E0"/>
                </a:solidFill>
                <a:latin typeface="Calibri"/>
              </a:rPr>
              <a:t>Roll 2107067  ·  4th Year 1st Term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5897880"/>
            <a:ext cx="548640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</a:pPr>
            <a:r>
              <a:rPr sz="1300" b="0" i="0">
                <a:solidFill>
                  <a:srgbClr val="C7D2E0"/>
                </a:solidFill>
                <a:latin typeface="Calibri"/>
              </a:rPr>
              <a:t>Instructors: Md Tajmilur Rahman, Md. Mubtashim Abrar Nihal</a:t>
            </a:r>
          </a:p>
          <a:p>
            <a:pPr algn="r">
              <a:lnSpc>
                <a:spcPct val="100000"/>
              </a:lnSpc>
              <a:spcAft>
                <a:spcPts val="100"/>
              </a:spcAft>
            </a:pPr>
            <a:r>
              <a:rPr sz="1300" b="0" i="0">
                <a:solidFill>
                  <a:srgbClr val="C7D2E0"/>
                </a:solidFill>
                <a:latin typeface="Calibri"/>
              </a:rPr>
              <a:t>Computer Graphics and Image Processing Laboratory  ·  October 7,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Outline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2 / 10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280160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280160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280160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Problem, objectives and architecture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002536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002536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002536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Procedural shapes and textures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2724912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24912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2724912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Transformations: creating and combining objects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3447288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447288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447288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Illumination models and light sources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4169664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169664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4169664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The rendering pipeline: shadows, ambient, tone map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4892040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892040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4892040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Results, verification and a bug fixed</a:t>
            </a:r>
          </a:p>
        </p:txBody>
      </p:sp>
      <p:sp>
        <p:nvSpPr>
          <p:cNvPr id="27" name="Oval 26"/>
          <p:cNvSpPr/>
          <p:nvPr/>
        </p:nvSpPr>
        <p:spPr>
          <a:xfrm>
            <a:off x="640080" y="5614416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614416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5614416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Video tour of the project</a:t>
            </a:r>
          </a:p>
        </p:txBody>
      </p:sp>
      <p:pic>
        <p:nvPicPr>
          <p:cNvPr id="30" name="Picture 29" descr="model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1600200"/>
            <a:ext cx="4389120" cy="750770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sp>
        <p:nvSpPr>
          <p:cNvPr id="31" name="TextBox 30"/>
          <p:cNvSpPr txBox="1"/>
          <p:nvPr/>
        </p:nvSpPr>
        <p:spPr>
          <a:xfrm>
            <a:off x="7315200" y="2424122"/>
            <a:ext cx="4389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Six illumination models, one sphere each</a:t>
            </a:r>
          </a:p>
        </p:txBody>
      </p:sp>
      <p:pic>
        <p:nvPicPr>
          <p:cNvPr id="32" name="Picture 31" descr="tan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2853890"/>
            <a:ext cx="2103120" cy="1183005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pic>
        <p:nvPicPr>
          <p:cNvPr id="33" name="Picture 32" descr="truc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0" y="2853890"/>
            <a:ext cx="2103120" cy="1183005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sp>
        <p:nvSpPr>
          <p:cNvPr id="34" name="TextBox 33"/>
          <p:cNvSpPr txBox="1"/>
          <p:nvPr/>
        </p:nvSpPr>
        <p:spPr>
          <a:xfrm>
            <a:off x="7315200" y="4110047"/>
            <a:ext cx="4389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Objects are transformed primitives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1. Problem, objectives and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3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51560"/>
            <a:ext cx="603504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 i="0">
                <a:solidFill>
                  <a:srgbClr val="1E293B"/>
                </a:solidFill>
                <a:latin typeface="Calibri"/>
              </a:rPr>
              <a:t>Can a complete, playable 3D game be made by code alone on a student laptop?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65960"/>
            <a:ext cx="603504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075688"/>
            <a:ext cx="64008" cy="101498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057400"/>
            <a:ext cx="5669279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TWO HARD LIMITS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23160"/>
            <a:ext cx="5669279" cy="7040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700" b="0" i="0">
                <a:solidFill>
                  <a:srgbClr val="1E293B"/>
                </a:solidFill>
                <a:latin typeface="Calibri"/>
              </a:rPr>
              <a:t>No model, image or precomputed data file</a:t>
            </a:r>
          </a:p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700" b="0" i="0">
                <a:solidFill>
                  <a:srgbClr val="1E293B"/>
                </a:solidFill>
                <a:latin typeface="Calibri"/>
              </a:rPr>
              <a:t>macOS OpenGL 4.1: no compute shaders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37560"/>
            <a:ext cx="60350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447288"/>
            <a:ext cx="64008" cy="160934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429000"/>
            <a:ext cx="5669279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OBJECTIVES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794760"/>
            <a:ext cx="5669279" cy="12984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600" b="0" i="0">
                <a:solidFill>
                  <a:srgbClr val="1E293B"/>
                </a:solidFill>
                <a:latin typeface="Calibri"/>
              </a:rPr>
              <a:t>Layered engine, downward dependencies</a:t>
            </a:r>
          </a:p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600" b="0" i="0">
                <a:solidFill>
                  <a:srgbClr val="1E293B"/>
                </a:solidFill>
                <a:latin typeface="Calibri"/>
              </a:rPr>
              <a:t>All content from code and seeds</a:t>
            </a:r>
          </a:p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600" b="0" i="0">
                <a:solidFill>
                  <a:srgbClr val="1E293B"/>
                </a:solidFill>
                <a:latin typeface="Calibri"/>
              </a:rPr>
              <a:t>Modern renderer and a playable game</a:t>
            </a:r>
          </a:p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600" b="0" i="0">
                <a:solidFill>
                  <a:srgbClr val="1E293B"/>
                </a:solidFill>
                <a:latin typeface="Calibri"/>
              </a:rPr>
              <a:t>Verified by tests and a 16.7 ms budget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03520"/>
            <a:ext cx="1115568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5413248"/>
            <a:ext cx="64008" cy="7406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376672"/>
            <a:ext cx="1069848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The game: </a:t>
            </a:r>
            <a:r>
              <a:rPr sz="1600" b="0" i="0">
                <a:solidFill>
                  <a:srgbClr val="1E293B"/>
                </a:solidFill>
                <a:latin typeface="Calibri"/>
              </a:rPr>
              <a:t>jeep, truck, carrier, tank and a helicopter you can drive; ladders and doors; stealth enemies; a five-objective mission (hack, destroy, rescue, extract); all sounds synthesised.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1097280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E8F7F4"/>
          </a:solidFill>
          <a:ln w="9525">
            <a:solidFill>
              <a:srgbClr val="0F8F85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78040" y="1097280"/>
            <a:ext cx="402336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Game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mission, AI, vehicles, sound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40880" y="1737360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DAEEEC"/>
          </a:solidFill>
          <a:ln w="9525">
            <a:solidFill>
              <a:srgbClr val="0F8F85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78040" y="1737360"/>
            <a:ext cx="402336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Render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deferred, lights, sky, post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80" y="2377439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CCE5E4"/>
          </a:solidFill>
          <a:ln w="9525">
            <a:solidFill>
              <a:srgbClr val="0F8F85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78040" y="2377439"/>
            <a:ext cx="402336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World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collision, terrain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40880" y="3017520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BEDCDC"/>
          </a:solidFill>
          <a:ln w="9525">
            <a:solidFill>
              <a:srgbClr val="0F8F85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78040" y="3017520"/>
            <a:ext cx="402336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Procedural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noise, textures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40880" y="3657600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B0D3D4"/>
          </a:solidFill>
          <a:ln w="9525">
            <a:solidFill>
              <a:srgbClr val="0F8F85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78040" y="3657600"/>
            <a:ext cx="402336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GPU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shaders, buffers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40880" y="4297680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A2CACC"/>
          </a:solidFill>
          <a:ln w="9525">
            <a:solidFill>
              <a:srgbClr val="0F8F85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78040" y="4297680"/>
            <a:ext cx="402336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Platform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window, input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1521440" y="1143000"/>
            <a:ext cx="0" cy="3611880"/>
          </a:xfrm>
          <a:prstGeom prst="line">
            <a:avLst/>
          </a:prstGeom>
          <a:ln w="25400">
            <a:solidFill>
              <a:srgbClr val="0F8F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58000" y="4919472"/>
            <a:ext cx="47548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 i="1">
                <a:solidFill>
                  <a:srgbClr val="64748B"/>
                </a:solidFill>
                <a:latin typeface="Calibri"/>
              </a:rPr>
              <a:t>A lower layer never knows a higher 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2. Procedural shapes and textures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4 / 10</a:t>
            </a:r>
          </a:p>
        </p:txBody>
      </p:sp>
      <p:pic>
        <p:nvPicPr>
          <p:cNvPr id="9" name="Picture 8" descr="noise_stag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7360" y="1051560"/>
            <a:ext cx="8686800" cy="1705384"/>
          </a:xfrm>
          <a:prstGeom prst="rect">
            <a:avLst/>
          </a:prstGeom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1737360" y="2793520"/>
            <a:ext cx="8686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gradient, fractal, warped, ridged and cellular noise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14144"/>
            <a:ext cx="5486400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323872"/>
            <a:ext cx="64008" cy="1655063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05584"/>
            <a:ext cx="51206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FRACTAL NOISE (TILES EXACTLY)</a:t>
            </a:r>
          </a:p>
        </p:txBody>
      </p:sp>
      <p:pic>
        <p:nvPicPr>
          <p:cNvPr id="14" name="Picture 13" descr="frac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9308" y="3890800"/>
            <a:ext cx="3025063" cy="8686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48640" y="5225824"/>
            <a:ext cx="5486400" cy="112925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5335552"/>
            <a:ext cx="64008" cy="909799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317264"/>
            <a:ext cx="51206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VERTEX PUSH BY A NOISE DEFORMER</a:t>
            </a:r>
          </a:p>
        </p:txBody>
      </p:sp>
      <p:pic>
        <p:nvPicPr>
          <p:cNvPr id="18" name="Picture 17" descr="pus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39" y="5792738"/>
            <a:ext cx="4800600" cy="3429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55080" y="3305584"/>
            <a:ext cx="5394960" cy="3383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74320" indent="-274320">
              <a:lnSpc>
                <a:spcPct val="100000"/>
              </a:lnSpc>
              <a:spcAft>
                <a:spcPts val="1100"/>
              </a:spcAft>
              <a:buClr>
                <a:srgbClr val="0F8F85"/>
              </a:buClr>
              <a:buChar char="▪"/>
            </a:pPr>
            <a:r>
              <a:rPr sz="2000" b="0" i="0">
                <a:solidFill>
                  <a:srgbClr val="1E293B"/>
                </a:solidFill>
                <a:latin typeface="Calibri"/>
              </a:rPr>
              <a:t>18 recipes → 22 materials, baked once at 1024²</a:t>
            </a:r>
          </a:p>
          <a:p>
            <a:pPr algn="l" marL="274320" indent="-274320">
              <a:lnSpc>
                <a:spcPct val="100000"/>
              </a:lnSpc>
              <a:spcAft>
                <a:spcPts val="1100"/>
              </a:spcAft>
              <a:buClr>
                <a:srgbClr val="0F8F85"/>
              </a:buClr>
              <a:buChar char="▪"/>
            </a:pPr>
            <a:r>
              <a:rPr sz="2000" b="0" i="0">
                <a:solidFill>
                  <a:srgbClr val="1E293B"/>
                </a:solidFill>
                <a:latin typeface="Calibri"/>
              </a:rPr>
              <a:t>Scharr filter turns height into bumps; crevices darken</a:t>
            </a:r>
          </a:p>
          <a:p>
            <a:pPr algn="l" marL="274320" indent="-274320">
              <a:lnSpc>
                <a:spcPct val="100000"/>
              </a:lnSpc>
              <a:spcAft>
                <a:spcPts val="1100"/>
              </a:spcAft>
              <a:buClr>
                <a:srgbClr val="0F8F85"/>
              </a:buClr>
              <a:buChar char="▪"/>
            </a:pPr>
            <a:r>
              <a:rPr sz="2000" b="0" i="0">
                <a:solidFill>
                  <a:srgbClr val="1E293B"/>
                </a:solidFill>
                <a:latin typeface="Calibri"/>
              </a:rPr>
              <a:t>Objects are tables of primitives plus noise deformers</a:t>
            </a:r>
          </a:p>
          <a:p>
            <a:pPr algn="l" marL="274320" indent="-274320">
              <a:lnSpc>
                <a:spcPct val="100000"/>
              </a:lnSpc>
              <a:spcAft>
                <a:spcPts val="1100"/>
              </a:spcAft>
              <a:buClr>
                <a:srgbClr val="0F8F85"/>
              </a:buClr>
              <a:buChar char="▪"/>
            </a:pPr>
            <a:r>
              <a:rPr sz="2000" b="0" i="0">
                <a:solidFill>
                  <a:srgbClr val="1E293B"/>
                </a:solidFill>
                <a:latin typeface="Calibri"/>
              </a:rPr>
              <a:t>Soldiers: skeletons with two-bone IK legs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3. Transformations: creating and combining objects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5 / 10</a:t>
            </a:r>
          </a:p>
        </p:txBody>
      </p:sp>
      <p:sp>
        <p:nvSpPr>
          <p:cNvPr id="9" name="Pentagon 8"/>
          <p:cNvSpPr/>
          <p:nvPr/>
        </p:nvSpPr>
        <p:spPr>
          <a:xfrm>
            <a:off x="548640" y="1051560"/>
            <a:ext cx="1973580" cy="777240"/>
          </a:xfrm>
          <a:prstGeom prst="homePlate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051560"/>
            <a:ext cx="16078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Primitive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mesh</a:t>
            </a:r>
          </a:p>
        </p:txBody>
      </p:sp>
      <p:sp>
        <p:nvSpPr>
          <p:cNvPr id="11" name="Chevron 10"/>
          <p:cNvSpPr/>
          <p:nvPr/>
        </p:nvSpPr>
        <p:spPr>
          <a:xfrm>
            <a:off x="2385060" y="1051560"/>
            <a:ext cx="1973580" cy="777240"/>
          </a:xfrm>
          <a:prstGeom prst="chevron">
            <a:avLst>
              <a:gd name="adj" fmla="val 28000"/>
            </a:avLst>
          </a:prstGeom>
          <a:solidFill>
            <a:srgbClr val="CCEAE6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41092" y="1051560"/>
            <a:ext cx="16078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Deformers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(own space)</a:t>
            </a:r>
          </a:p>
        </p:txBody>
      </p:sp>
      <p:sp>
        <p:nvSpPr>
          <p:cNvPr id="13" name="Chevron 12"/>
          <p:cNvSpPr/>
          <p:nvPr/>
        </p:nvSpPr>
        <p:spPr>
          <a:xfrm>
            <a:off x="4221480" y="1051560"/>
            <a:ext cx="1973580" cy="777240"/>
          </a:xfrm>
          <a:prstGeom prst="chevron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7512" y="1051560"/>
            <a:ext cx="16078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M_part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scale, turn, move</a:t>
            </a:r>
          </a:p>
        </p:txBody>
      </p:sp>
      <p:sp>
        <p:nvSpPr>
          <p:cNvPr id="15" name="Chevron 14"/>
          <p:cNvSpPr/>
          <p:nvPr/>
        </p:nvSpPr>
        <p:spPr>
          <a:xfrm>
            <a:off x="6057900" y="1051560"/>
            <a:ext cx="1973580" cy="777240"/>
          </a:xfrm>
          <a:prstGeom prst="chevron">
            <a:avLst>
              <a:gd name="adj" fmla="val 28000"/>
            </a:avLst>
          </a:prstGeom>
          <a:solidFill>
            <a:srgbClr val="CCEAE6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3932" y="1051560"/>
            <a:ext cx="16078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Merge by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material</a:t>
            </a:r>
          </a:p>
        </p:txBody>
      </p:sp>
      <p:sp>
        <p:nvSpPr>
          <p:cNvPr id="17" name="Chevron 16"/>
          <p:cNvSpPr/>
          <p:nvPr/>
        </p:nvSpPr>
        <p:spPr>
          <a:xfrm>
            <a:off x="7894320" y="1051560"/>
            <a:ext cx="1973580" cy="777240"/>
          </a:xfrm>
          <a:prstGeom prst="chevron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0351" y="1051560"/>
            <a:ext cx="16078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M_world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instances</a:t>
            </a:r>
          </a:p>
        </p:txBody>
      </p:sp>
      <p:sp>
        <p:nvSpPr>
          <p:cNvPr id="19" name="Chevron 18"/>
          <p:cNvSpPr/>
          <p:nvPr/>
        </p:nvSpPr>
        <p:spPr>
          <a:xfrm>
            <a:off x="9730740" y="1051560"/>
            <a:ext cx="1973580" cy="777240"/>
          </a:xfrm>
          <a:prstGeom prst="chevron">
            <a:avLst>
              <a:gd name="adj" fmla="val 28000"/>
            </a:avLst>
          </a:prstGeom>
          <a:solidFill>
            <a:srgbClr val="CCEAE6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86771" y="1051560"/>
            <a:ext cx="16078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V then 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to screen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011680"/>
            <a:ext cx="56692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121408"/>
            <a:ext cx="64008" cy="197510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103120"/>
            <a:ext cx="530352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ONE PART: SCALE, THEN TURN, THEN MOVE</a:t>
            </a:r>
          </a:p>
        </p:txBody>
      </p:sp>
      <p:pic>
        <p:nvPicPr>
          <p:cNvPr id="24" name="Picture 23" descr="m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38" y="2838411"/>
            <a:ext cx="4556683" cy="3582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3602735"/>
            <a:ext cx="530352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300" b="0" i="0">
                <a:solidFill>
                  <a:srgbClr val="64748B"/>
                </a:solidFill>
                <a:latin typeface="Calibri"/>
              </a:rPr>
              <a:t>Right to left: stretched, turned about its own centre, moved last.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300" b="0" i="0">
                <a:solidFill>
                  <a:srgbClr val="64748B"/>
                </a:solidFill>
                <a:latin typeface="Calibri"/>
              </a:rPr>
              <a:t>Example: (1,0,0) → S(2,1,1) → R_y 90° → T(5,0,0) = (5, 0, −2)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343400"/>
            <a:ext cx="566928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453128"/>
            <a:ext cx="64008" cy="179222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434840"/>
            <a:ext cx="530352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NORMALS USE THE INVERSE TRANSPOSE</a:t>
            </a:r>
          </a:p>
        </p:txBody>
      </p:sp>
      <p:pic>
        <p:nvPicPr>
          <p:cNvPr id="29" name="Picture 28" descr="nm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8351" y="4867236"/>
            <a:ext cx="2049856" cy="78112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77240" y="5751576"/>
            <a:ext cx="530352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300" b="0" i="0">
                <a:solidFill>
                  <a:srgbClr val="64748B"/>
                </a:solidFill>
                <a:latin typeface="Calibri"/>
              </a:rPr>
              <a:t>S = diag(2,1,1): correct (0.447, 0.894, 0); naive (0.894, 0.447, 0) is wrong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46520" y="2011680"/>
            <a:ext cx="52578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46520" y="2121408"/>
            <a:ext cx="64008" cy="156362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75120" y="2103120"/>
            <a:ext cx="4892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ROTATION ABOUT Y</a:t>
            </a:r>
          </a:p>
        </p:txBody>
      </p:sp>
      <p:pic>
        <p:nvPicPr>
          <p:cNvPr id="34" name="Picture 33" descr="r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7133" y="2513114"/>
            <a:ext cx="3676573" cy="1127683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6446520" y="3931920"/>
            <a:ext cx="52578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46520" y="4041648"/>
            <a:ext cx="64008" cy="96926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4023359"/>
            <a:ext cx="4892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HIERARCHY: PRODUCTS DOWN THE CHAIN</a:t>
            </a:r>
          </a:p>
        </p:txBody>
      </p:sp>
      <p:pic>
        <p:nvPicPr>
          <p:cNvPr id="38" name="Picture 37" descr="mgu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4538260"/>
            <a:ext cx="4617720" cy="323510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6446520" y="5257800"/>
            <a:ext cx="525780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46520" y="5367528"/>
            <a:ext cx="64008" cy="87782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5120" y="5349240"/>
            <a:ext cx="4892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WORLD TO SCREEN</a:t>
            </a:r>
          </a:p>
        </p:txBody>
      </p:sp>
      <p:pic>
        <p:nvPicPr>
          <p:cNvPr id="42" name="Picture 41" descr="cli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00023" y="5808726"/>
            <a:ext cx="3150793" cy="3429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4. Illumination models and light 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6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005840"/>
            <a:ext cx="804672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115568"/>
            <a:ext cx="64008" cy="96926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097280"/>
            <a:ext cx="768096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DIRECT LIGHT + AMBIENT + EMISSION</a:t>
            </a:r>
          </a:p>
        </p:txBody>
      </p:sp>
      <p:pic>
        <p:nvPicPr>
          <p:cNvPr id="12" name="Picture 11" descr="s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8057" y="1463040"/>
            <a:ext cx="6407885" cy="62179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778240" y="1234440"/>
            <a:ext cx="301752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64748B"/>
                </a:solidFill>
                <a:latin typeface="Calibri"/>
              </a:rPr>
              <a:t>f = illumination model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64748B"/>
                </a:solidFill>
                <a:latin typeface="Calibri"/>
              </a:rPr>
              <a:t>att = falloff   sh = shadow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331720"/>
            <a:ext cx="640080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441448"/>
            <a:ext cx="64008" cy="380390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450592"/>
            <a:ext cx="192024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Lambert</a:t>
            </a:r>
          </a:p>
        </p:txBody>
      </p:sp>
      <p:pic>
        <p:nvPicPr>
          <p:cNvPr id="17" name="Picture 16" descr="lambe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0" y="2441448"/>
            <a:ext cx="725484" cy="481523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777240" y="3026664"/>
            <a:ext cx="5943600" cy="10972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099816"/>
            <a:ext cx="192024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Phong</a:t>
            </a:r>
          </a:p>
        </p:txBody>
      </p:sp>
      <p:pic>
        <p:nvPicPr>
          <p:cNvPr id="20" name="Picture 19" descr="pho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0" y="3090672"/>
            <a:ext cx="3345770" cy="530352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77240" y="3675887"/>
            <a:ext cx="5943600" cy="10972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749039"/>
            <a:ext cx="192024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Blinn–Phong</a:t>
            </a:r>
          </a:p>
        </p:txBody>
      </p:sp>
      <p:pic>
        <p:nvPicPr>
          <p:cNvPr id="23" name="Picture 22" descr="blin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0" y="3739896"/>
            <a:ext cx="3392705" cy="530352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777240" y="4325112"/>
            <a:ext cx="5943600" cy="10972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398264"/>
            <a:ext cx="192024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Oren–Nayar</a:t>
            </a:r>
          </a:p>
        </p:txBody>
      </p:sp>
      <p:pic>
        <p:nvPicPr>
          <p:cNvPr id="26" name="Picture 25" descr="or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43200" y="4389120"/>
            <a:ext cx="4023360" cy="461932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777240" y="4974336"/>
            <a:ext cx="5943600" cy="10972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047488"/>
            <a:ext cx="192024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Cook–Torrance</a:t>
            </a:r>
          </a:p>
        </p:txBody>
      </p:sp>
      <p:pic>
        <p:nvPicPr>
          <p:cNvPr id="29" name="Picture 28" descr="ct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43200" y="5038344"/>
            <a:ext cx="3146602" cy="530352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777240" y="5623560"/>
            <a:ext cx="5943600" cy="10972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696712"/>
            <a:ext cx="192024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Subsurface</a:t>
            </a:r>
          </a:p>
        </p:txBody>
      </p:sp>
      <p:pic>
        <p:nvPicPr>
          <p:cNvPr id="32" name="Picture 31" descr="ss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0" y="5687568"/>
            <a:ext cx="2981815" cy="530352"/>
          </a:xfrm>
          <a:prstGeom prst="rect">
            <a:avLst/>
          </a:prstGeom>
        </p:spPr>
      </p:pic>
      <p:pic>
        <p:nvPicPr>
          <p:cNvPr id="33" name="Picture 32" descr="models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23760" y="2331720"/>
            <a:ext cx="4480560" cy="766411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sp>
        <p:nvSpPr>
          <p:cNvPr id="34" name="TextBox 33"/>
          <p:cNvSpPr txBox="1"/>
          <p:nvPr/>
        </p:nvSpPr>
        <p:spPr>
          <a:xfrm>
            <a:off x="7223760" y="3125563"/>
            <a:ext cx="44805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Lambert · Phong · Blinn–Phong · Oren–Nayar · Cook–Torrance · Subsurface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23760" y="3482179"/>
            <a:ext cx="4480560" cy="28729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223760" y="3591907"/>
            <a:ext cx="64008" cy="265344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52360" y="3573619"/>
            <a:ext cx="411480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LIGHT SOURCES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52360" y="3921091"/>
            <a:ext cx="4114800" cy="1325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74320" indent="-274320">
              <a:lnSpc>
                <a:spcPct val="100000"/>
              </a:lnSpc>
              <a:spcAft>
                <a:spcPts val="200"/>
              </a:spcAft>
              <a:buClr>
                <a:srgbClr val="0F8F85"/>
              </a:buClr>
              <a:buChar char="▪"/>
            </a:pPr>
            <a:r>
              <a:rPr sz="1500" b="0" i="0">
                <a:solidFill>
                  <a:srgbClr val="1E293B"/>
                </a:solidFill>
                <a:latin typeface="Calibri"/>
              </a:rPr>
              <a:t>Directional: sun, moon</a:t>
            </a:r>
          </a:p>
          <a:p>
            <a:pPr algn="l" marL="274320" indent="-274320">
              <a:lnSpc>
                <a:spcPct val="100000"/>
              </a:lnSpc>
              <a:spcAft>
                <a:spcPts val="200"/>
              </a:spcAft>
              <a:buClr>
                <a:srgbClr val="0F8F85"/>
              </a:buClr>
              <a:buChar char="▪"/>
            </a:pPr>
            <a:r>
              <a:rPr sz="1500" b="0" i="0">
                <a:solidFill>
                  <a:srgbClr val="1E293B"/>
                </a:solidFill>
                <a:latin typeface="Calibri"/>
              </a:rPr>
              <a:t>Point: lamps, flashes</a:t>
            </a:r>
          </a:p>
          <a:p>
            <a:pPr algn="l" marL="274320" indent="-274320">
              <a:lnSpc>
                <a:spcPct val="100000"/>
              </a:lnSpc>
              <a:spcAft>
                <a:spcPts val="200"/>
              </a:spcAft>
              <a:buClr>
                <a:srgbClr val="0F8F85"/>
              </a:buClr>
              <a:buChar char="▪"/>
            </a:pPr>
            <a:r>
              <a:rPr sz="1500" b="0" i="0">
                <a:solidFill>
                  <a:srgbClr val="1E293B"/>
                </a:solidFill>
                <a:latin typeface="Calibri"/>
              </a:rPr>
              <a:t>Spot: floodlights (cone)</a:t>
            </a:r>
          </a:p>
          <a:p>
            <a:pPr algn="l" marL="274320" indent="-274320">
              <a:lnSpc>
                <a:spcPct val="100000"/>
              </a:lnSpc>
              <a:spcAft>
                <a:spcPts val="200"/>
              </a:spcAft>
              <a:buClr>
                <a:srgbClr val="0F8F85"/>
              </a:buClr>
              <a:buChar char="▪"/>
            </a:pPr>
            <a:r>
              <a:rPr sz="1500" b="0" i="0">
                <a:solidFill>
                  <a:srgbClr val="1E293B"/>
                </a:solidFill>
                <a:latin typeface="Calibri"/>
              </a:rPr>
              <a:t>Area: 4×4 point samples</a:t>
            </a:r>
          </a:p>
        </p:txBody>
      </p:sp>
      <p:pic>
        <p:nvPicPr>
          <p:cNvPr id="39" name="Picture 38" descr="at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79989" y="5577840"/>
            <a:ext cx="336810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5. The rendering pipeline: shadows, ambient, tone 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7 / 10</a:t>
            </a:r>
          </a:p>
        </p:txBody>
      </p:sp>
      <p:sp>
        <p:nvSpPr>
          <p:cNvPr id="9" name="Pentagon 8"/>
          <p:cNvSpPr/>
          <p:nvPr/>
        </p:nvSpPr>
        <p:spPr>
          <a:xfrm>
            <a:off x="548640" y="1051560"/>
            <a:ext cx="1711234" cy="777240"/>
          </a:xfrm>
          <a:prstGeom prst="homePlate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Sky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table</a:t>
            </a:r>
          </a:p>
        </p:txBody>
      </p:sp>
      <p:sp>
        <p:nvSpPr>
          <p:cNvPr id="11" name="Chevron 10"/>
          <p:cNvSpPr/>
          <p:nvPr/>
        </p:nvSpPr>
        <p:spPr>
          <a:xfrm>
            <a:off x="2122714" y="1051560"/>
            <a:ext cx="1711234" cy="777240"/>
          </a:xfrm>
          <a:prstGeom prst="chevron">
            <a:avLst>
              <a:gd name="adj" fmla="val 28000"/>
            </a:avLst>
          </a:prstGeom>
          <a:solidFill>
            <a:srgbClr val="CCEAE6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8746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Shadows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3 cascades</a:t>
            </a:r>
          </a:p>
        </p:txBody>
      </p:sp>
      <p:sp>
        <p:nvSpPr>
          <p:cNvPr id="13" name="Chevron 12"/>
          <p:cNvSpPr/>
          <p:nvPr/>
        </p:nvSpPr>
        <p:spPr>
          <a:xfrm>
            <a:off x="3696788" y="1051560"/>
            <a:ext cx="1711234" cy="777240"/>
          </a:xfrm>
          <a:prstGeom prst="chevron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52820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Geometry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G-buffer</a:t>
            </a:r>
          </a:p>
        </p:txBody>
      </p:sp>
      <p:sp>
        <p:nvSpPr>
          <p:cNvPr id="15" name="Chevron 14"/>
          <p:cNvSpPr/>
          <p:nvPr/>
        </p:nvSpPr>
        <p:spPr>
          <a:xfrm>
            <a:off x="5270862" y="1051560"/>
            <a:ext cx="1711234" cy="777240"/>
          </a:xfrm>
          <a:prstGeom prst="chevron">
            <a:avLst>
              <a:gd name="adj" fmla="val 28000"/>
            </a:avLst>
          </a:prstGeom>
          <a:solidFill>
            <a:srgbClr val="CCEAE6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26894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SSAO</a:t>
            </a:r>
          </a:p>
        </p:txBody>
      </p:sp>
      <p:sp>
        <p:nvSpPr>
          <p:cNvPr id="17" name="Chevron 16"/>
          <p:cNvSpPr/>
          <p:nvPr/>
        </p:nvSpPr>
        <p:spPr>
          <a:xfrm>
            <a:off x="6844937" y="1051560"/>
            <a:ext cx="1711234" cy="777240"/>
          </a:xfrm>
          <a:prstGeom prst="chevron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00969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Lighting,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reflect, fog</a:t>
            </a:r>
          </a:p>
        </p:txBody>
      </p:sp>
      <p:sp>
        <p:nvSpPr>
          <p:cNvPr id="19" name="Chevron 18"/>
          <p:cNvSpPr/>
          <p:nvPr/>
        </p:nvSpPr>
        <p:spPr>
          <a:xfrm>
            <a:off x="8419011" y="1051560"/>
            <a:ext cx="1711234" cy="777240"/>
          </a:xfrm>
          <a:prstGeom prst="chevron">
            <a:avLst>
              <a:gd name="adj" fmla="val 28000"/>
            </a:avLst>
          </a:prstGeom>
          <a:solidFill>
            <a:srgbClr val="CCEAE6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75043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Smoke,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fire</a:t>
            </a:r>
          </a:p>
        </p:txBody>
      </p:sp>
      <p:sp>
        <p:nvSpPr>
          <p:cNvPr id="21" name="Chevron 20"/>
          <p:cNvSpPr/>
          <p:nvPr/>
        </p:nvSpPr>
        <p:spPr>
          <a:xfrm>
            <a:off x="9993085" y="1051560"/>
            <a:ext cx="1711234" cy="777240"/>
          </a:xfrm>
          <a:prstGeom prst="chevron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9117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Bloom, ACES,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FXAA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011680"/>
            <a:ext cx="63093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 i="0">
                <a:solidFill>
                  <a:srgbClr val="0F8F85"/>
                </a:solidFill>
                <a:latin typeface="Calibri"/>
              </a:rPr>
              <a:t>Deferred shading: </a:t>
            </a:r>
            <a:r>
              <a:rPr sz="1700" b="0" i="0">
                <a:solidFill>
                  <a:srgbClr val="1E293B"/>
                </a:solidFill>
                <a:latin typeface="Calibri"/>
              </a:rPr>
              <a:t>store colour, normal, shininess and depth first, then light each pixel once.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2880360"/>
            <a:ext cx="630936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2990088"/>
            <a:ext cx="64008" cy="151790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971800"/>
            <a:ext cx="594360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CASCADED SHADOW MAPS  (Λ = 0.75, N = 3, N = 0.1 M, R = 100 M)</a:t>
            </a:r>
          </a:p>
        </p:txBody>
      </p:sp>
      <p:pic>
        <p:nvPicPr>
          <p:cNvPr id="27" name="Picture 26" descr="cs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3044" y="3337560"/>
            <a:ext cx="4780551" cy="64007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77240" y="4014215"/>
            <a:ext cx="594360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300" b="0" i="0">
                <a:solidFill>
                  <a:srgbClr val="64748B"/>
                </a:solidFill>
                <a:latin typeface="Calibri"/>
              </a:rPr>
              <a:t>Cuts at 9.1, 24.2, 100 m · normal-offset lookup · 8 rotated PCF taps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754880"/>
            <a:ext cx="63093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864608"/>
            <a:ext cx="64008" cy="138074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846320"/>
            <a:ext cx="594360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FOG AND TONE MAP</a:t>
            </a:r>
          </a:p>
        </p:txBody>
      </p:sp>
      <p:pic>
        <p:nvPicPr>
          <p:cNvPr id="32" name="Picture 31" descr="fo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4031" y="5212080"/>
            <a:ext cx="3918577" cy="324076"/>
          </a:xfrm>
          <a:prstGeom prst="rect">
            <a:avLst/>
          </a:prstGeom>
        </p:spPr>
      </p:pic>
      <p:pic>
        <p:nvPicPr>
          <p:cNvPr id="33" name="Picture 32" descr="a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13070" y="5613180"/>
            <a:ext cx="3180498" cy="632171"/>
          </a:xfrm>
          <a:prstGeom prst="rect">
            <a:avLst/>
          </a:prstGeom>
        </p:spPr>
      </p:pic>
      <p:pic>
        <p:nvPicPr>
          <p:cNvPr id="34" name="Picture 33" descr="dusk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8040" y="2011680"/>
            <a:ext cx="4572000" cy="2571750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sp>
        <p:nvSpPr>
          <p:cNvPr id="35" name="TextBox 34"/>
          <p:cNvSpPr txBox="1"/>
          <p:nvPr/>
        </p:nvSpPr>
        <p:spPr>
          <a:xfrm>
            <a:off x="7178040" y="4638294"/>
            <a:ext cx="4572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Dusk: sun, sky, haze, shadows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8040" y="5086350"/>
            <a:ext cx="4572000" cy="1371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93B"/>
                </a:solidFill>
                <a:latin typeface="Calibri"/>
              </a:rPr>
              <a:t>Sun, moon, lamps, cascaded shadows, SSAO, screen-space reflections, bloom and FXAA. Ambient = sky diffuse + split-sum specular, times SSAO.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6. Results, verification and a bug fixed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8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051560"/>
            <a:ext cx="5760720" cy="2788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161288"/>
            <a:ext cx="64008" cy="2569463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731520" y="1097280"/>
          <a:ext cx="5486400" cy="26974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3931920"/>
            <a:ext cx="576072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00" b="1" i="0">
                <a:solidFill>
                  <a:srgbClr val="0F8F85"/>
                </a:solidFill>
                <a:latin typeface="Calibri"/>
              </a:rPr>
              <a:t>10.9 ms</a:t>
            </a:r>
            <a:r>
              <a:rPr sz="1900" b="0" i="0">
                <a:solidFill>
                  <a:srgbClr val="1E293B"/>
                </a:solidFill>
                <a:latin typeface="Calibri"/>
              </a:rPr>
              <a:t> of the 16.7 ms budget at 1080p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4434840"/>
          <a:ext cx="57607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1463040"/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Verification</a:t>
                      </a:r>
                    </a:p>
                  </a:txBody>
                  <a:tcPr marT="18288" marB="18288">
                    <a:solidFill>
                      <a:srgbClr val="0F8F8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T="18288" marB="18288">
                    <a:solidFill>
                      <a:srgbClr val="0F8F8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Unit tests (13 packages)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281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TextureCheck (exact tiling)</a:t>
                      </a:r>
                    </a:p>
                  </a:txBody>
                  <a:tcPr marT="18288" marB="18288"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8,318</a:t>
                      </a:r>
                    </a:p>
                  </a:txBody>
                  <a:tcPr marT="18288" marB="18288">
                    <a:solidFill>
                      <a:srgbClr val="E6F4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RenderCheck (lighting probes)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318,567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GpuCheck</a:t>
                      </a:r>
                    </a:p>
                  </a:txBody>
                  <a:tcPr marT="18288" marB="18288"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T="18288" marB="18288">
                    <a:solidFill>
                      <a:srgbClr val="E6F4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Playthroughs, 5/5 objectives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583680" y="1051560"/>
            <a:ext cx="5120640" cy="9601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Bug: a vertical line at night.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Fog sampled the whole sky, so one horizon star streaked a column. Fix: fog uses the smooth atmosphere only.</a:t>
            </a:r>
          </a:p>
        </p:txBody>
      </p:sp>
      <p:pic>
        <p:nvPicPr>
          <p:cNvPr id="15" name="Picture 14" descr="gate_night_bu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2103120"/>
            <a:ext cx="2487168" cy="1399032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pic>
        <p:nvPicPr>
          <p:cNvPr id="16" name="Picture 15" descr="gate_nigh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7152" y="2103120"/>
            <a:ext cx="2487168" cy="1399032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sp>
        <p:nvSpPr>
          <p:cNvPr id="17" name="TextBox 16"/>
          <p:cNvSpPr txBox="1"/>
          <p:nvPr/>
        </p:nvSpPr>
        <p:spPr>
          <a:xfrm>
            <a:off x="6583680" y="3538728"/>
            <a:ext cx="24871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Before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7152" y="3538728"/>
            <a:ext cx="24871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After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0" y="4114800"/>
            <a:ext cx="512064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4224528"/>
            <a:ext cx="64008" cy="202082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4206240"/>
            <a:ext cx="4754879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LIMITS AND FUTURE 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4572000"/>
            <a:ext cx="4754879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400" b="0" i="0">
                <a:solidFill>
                  <a:srgbClr val="1E293B"/>
                </a:solidFill>
                <a:latin typeface="Calibri"/>
              </a:rPr>
              <a:t>Blocky primitive models; no true global illumination; lumpy foliage</a:t>
            </a:r>
          </a:p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400" b="0" i="0">
                <a:solidFill>
                  <a:srgbClr val="1E293B"/>
                </a:solidFill>
                <a:latin typeface="Calibri"/>
              </a:rPr>
              <a:t>Leaf cards, screen-space GI, point-light shadows, multiplayer</a:t>
            </a:r>
          </a:p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400" b="0" i="0">
                <a:solidFill>
                  <a:srgbClr val="1E293B"/>
                </a:solidFill>
                <a:latin typeface="Calibri"/>
              </a:rPr>
              <a:t>Take-away: most "art" is a few simple ideas, applied consistently and tested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7. Video tour of the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10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51560"/>
            <a:ext cx="5486400" cy="4572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[1] K. Perlin, "Improving noise," ACM TOG, 21(3), 2002.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[2] S. Worley, "A cellular texture basis function," SIGGRAPH, 1996.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[3] R. Cook, K. Torrance, "A reflectance model for computer graphics," ACM TOG, 1(1), 1982.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[4] B. Walter et al., "Microfacet models for refraction through rough surfaces," EGSR, 2007.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[5] B. Karis, "Real shading in Unreal Engine 4," SIGGRAPH Course, 2013.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[6] S. Hillaire, "A scalable and production ready sky and atmosphere rendering technique," CGF, 39(4), 2020.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[7] R. Dimitrov, "Cascaded shadow maps," NVIDIA, 2007.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[8] M. Oren, S. Nayar, "Generalization of Lambert's reflectance model," SIGGRAPH, 1994.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051560"/>
            <a:ext cx="5486400" cy="4572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[9] K. Narkowicz, "ACES filmic tone mapping curve," 2016.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[10] J. Jimenez, "Next generation post processing in Call of Duty: Advanced Warfare," SIGGRAPH, 2014.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[11] T. Lottes, "FXAA," NVIDIA, 2009.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[12] M. Segal, K. Akeley, The OpenGL Graphics System, v4.1, Khronos, 2010.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[13] I. Quilez, "Domain warping," iquilezles.org.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[14] S. Hargreaves, M. Harris, "Deferred shading," NVIDIA, GDC 2004.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[15] H. Scharr, "Optimal operators in digital image processing," Ph.D., Heidelberg, 2000.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[16] T. Akenine-Möller et al., Real-Time Rendering, 4th ed., CRC Press, 2018.</a:t>
            </a:r>
          </a:p>
        </p:txBody>
      </p:sp>
      <p:pic>
        <p:nvPicPr>
          <p:cNvPr id="11" name="Picture 10" descr="ban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715000"/>
            <a:ext cx="12191695" cy="1143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40080" y="5852160"/>
            <a:ext cx="73152" cy="8229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852160"/>
            <a:ext cx="457200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5852160"/>
            <a:ext cx="630936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800" b="0" i="0">
                <a:solidFill>
                  <a:srgbClr val="C7D2E0"/>
                </a:solidFill>
                <a:latin typeface="Calibri"/>
              </a:rPr>
              <a:t>Questions are welcome</a:t>
            </a:r>
          </a:p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800" b="0" i="0">
                <a:solidFill>
                  <a:srgbClr val="C7D2E0"/>
                </a:solidFill>
                <a:latin typeface="Calibri"/>
              </a:rPr>
              <a:t>Md. Shifat Hasan  ·  Roll 2107067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