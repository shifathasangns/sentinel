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344168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4416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057400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70632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70632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The rendering pipeline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483864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483864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World, physics and gameplay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97096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97096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197096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Results and verification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10328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10328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910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Challenge, limits and future work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623560"/>
            <a:ext cx="457200" cy="457200"/>
          </a:xfrm>
          <a:prstGeom prst="ellipse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23560"/>
            <a:ext cx="457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623560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29" name="Picture 28" descr="showroo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554480"/>
            <a:ext cx="4572000" cy="2571750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86600" y="421767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Every material is a code-generated recipe.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8521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58521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82296" cy="150876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5577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5577840" cy="97840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8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8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5852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5852160" cy="2377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Layered engine with downward-only dependencies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All meshes, textures and sounds from code and seeds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Modern renderer: PBR, shadows, sky, post-processing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Playable game: vehicles, ladders, doors, mission</a:t>
            </a:r>
          </a:p>
          <a:p>
            <a:pPr algn="l" marL="256032" indent="-256032">
              <a:lnSpc>
                <a:spcPct val="100000"/>
              </a:lnSpc>
              <a:spcAft>
                <a:spcPts val="500"/>
              </a:spcAft>
              <a:buClr>
                <a:srgbClr val="007A3D"/>
              </a:buClr>
              <a:buChar char="•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Verified by tests and a 16.7 ms frame 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234440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E4F6F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234440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Game: mission, AI, vehicles, sound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020824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D6EDE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020824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Render: deferred, lights, sky, post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2807208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C8E4E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807208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World: collision, terrain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593591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BADBD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593591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Procedural: noise, textures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4379976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ACD2D3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4379976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GPU: shaders, buffers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5166360"/>
            <a:ext cx="4297680" cy="658368"/>
          </a:xfrm>
          <a:prstGeom prst="roundRect">
            <a:avLst>
              <a:gd name="adj" fmla="val 6000"/>
            </a:avLst>
          </a:prstGeom>
          <a:solidFill>
            <a:srgbClr val="9EC9CB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4297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1E293B"/>
                </a:solidFill>
                <a:latin typeface="Calibri"/>
              </a:rPr>
              <a:t>Platform: window, input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75720" y="1280160"/>
            <a:ext cx="0" cy="45262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0" y="59893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051560"/>
            <a:ext cx="8503920" cy="1669481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828800" y="2748473"/>
            <a:ext cx="850392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78241"/>
            <a:ext cx="5303520" cy="31768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33105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2" name="Picture 11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" y="3589721"/>
            <a:ext cx="5029200" cy="1555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5372801"/>
            <a:ext cx="49377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4" name="Picture 13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784281"/>
            <a:ext cx="4846320" cy="39246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178241"/>
            <a:ext cx="5486400" cy="3108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56032" indent="-256032">
              <a:lnSpc>
                <a:spcPct val="100000"/>
              </a:lnSpc>
              <a:spcAft>
                <a:spcPts val="1000"/>
              </a:spcAft>
              <a:buClr>
                <a:srgbClr val="007A3D"/>
              </a:buClr>
              <a:buChar char="•"/>
            </a:pPr>
            <a:r>
              <a:rPr sz="20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The rendering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749039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6359" y="1463040"/>
            <a:ext cx="182881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59" y="1463040"/>
            <a:ext cx="182881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494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667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5496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966960" y="1463040"/>
            <a:ext cx="182880" cy="0"/>
          </a:xfrm>
          <a:prstGeom prst="line">
            <a:avLst/>
          </a:prstGeom>
          <a:ln w="1905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149840" y="1097280"/>
            <a:ext cx="141732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8F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1097280"/>
            <a:ext cx="141732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each pixel's colour, normal, shininess and depth first, then light it once; many lights stay cheap.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926080"/>
            <a:ext cx="63093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7180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Cook–Torrance reflection</a:t>
            </a:r>
          </a:p>
        </p:txBody>
      </p:sp>
      <p:pic>
        <p:nvPicPr>
          <p:cNvPr id="31" name="Picture 30" descr="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37560"/>
            <a:ext cx="5943600" cy="668753"/>
          </a:xfrm>
          <a:prstGeom prst="rect">
            <a:avLst/>
          </a:prstGeom>
        </p:spPr>
      </p:pic>
      <p:pic>
        <p:nvPicPr>
          <p:cNvPr id="32" name="Picture 31" descr="fresn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51960"/>
            <a:ext cx="2926080" cy="3290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" y="4709160"/>
            <a:ext cx="5943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4" name="Picture 33" descr="f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074920"/>
            <a:ext cx="2834640" cy="265084"/>
          </a:xfrm>
          <a:prstGeom prst="rect">
            <a:avLst/>
          </a:prstGeom>
        </p:spPr>
      </p:pic>
      <p:pic>
        <p:nvPicPr>
          <p:cNvPr id="35" name="Picture 34" descr="a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4983480"/>
            <a:ext cx="2743200" cy="558209"/>
          </a:xfrm>
          <a:prstGeom prst="rect">
            <a:avLst/>
          </a:prstGeom>
        </p:spPr>
      </p:pic>
      <p:pic>
        <p:nvPicPr>
          <p:cNvPr id="36" name="Picture 35" descr="dus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8040" y="2057400"/>
            <a:ext cx="4572000" cy="2571750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7178040" y="4702302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5177790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World, physics and gameplay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6035040" cy="37490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Sky: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sun height from astronomy, scattering sky, wind-driven clouds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Terrain: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warped ridged noise, streamed in 64 m chunks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Trees: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4 species, swaying in the wind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Vehicles: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jeep, truck, carrier, tank, helicopter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Ladders: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4-state grip machine, hands on rungs</a:t>
            </a:r>
          </a:p>
          <a:p>
            <a:pPr algn="l" marL="256032" indent="-256032">
              <a:lnSpc>
                <a:spcPct val="100000"/>
              </a:lnSpc>
              <a:spcAft>
                <a:spcPts val="700"/>
              </a:spcAft>
              <a:buClr>
                <a:srgbClr val="007A3D"/>
              </a:buClr>
              <a:buChar char="•"/>
            </a:pPr>
            <a:r>
              <a:rPr sz="1900" b="1" i="0">
                <a:solidFill>
                  <a:srgbClr val="1E293B"/>
                </a:solidFill>
                <a:latin typeface="Calibri"/>
              </a:rPr>
              <a:t>Mission: 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hack, destroy, rescue, extract; stealth AI; synthesised sound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60350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74920"/>
            <a:ext cx="2651760" cy="698608"/>
          </a:xfrm>
          <a:prstGeom prst="rect">
            <a:avLst/>
          </a:prstGeom>
        </p:spPr>
      </p:pic>
      <p:pic>
        <p:nvPicPr>
          <p:cNvPr id="11" name="Picture 10" descr="bicy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5074920"/>
            <a:ext cx="1442923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5852160"/>
            <a:ext cx="29260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cloud plane and wind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5852160"/>
            <a:ext cx="2468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bicycle steering</a:t>
            </a:r>
          </a:p>
        </p:txBody>
      </p:sp>
      <p:pic>
        <p:nvPicPr>
          <p:cNvPr id="14" name="Picture 13" descr="gate_da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097280"/>
            <a:ext cx="4754880" cy="2674620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15" name="Picture 14" descr="ladde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3909060"/>
            <a:ext cx="2304288" cy="1296162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16" name="Picture 15" descr="trees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3909060"/>
            <a:ext cx="2304288" cy="1296162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949440" y="5250942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Day sky, ladder climb, and tree species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Results and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1051560"/>
          <a:ext cx="585216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8521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20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526280"/>
          <a:ext cx="58521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55448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hq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097280"/>
            <a:ext cx="4297680" cy="241744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pic>
        <p:nvPicPr>
          <p:cNvPr id="12" name="Picture 11" descr="m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3651885"/>
            <a:ext cx="4297680" cy="241744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223760" y="6115050"/>
            <a:ext cx="4297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Headquarters, and the tactical map with objectives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Challenge solved, limits and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F8F85"/>
                </a:solidFill>
                <a:latin typeface="Calibri"/>
              </a:rPr>
              <a:t>Bug: a bright vertical line at night. </a:t>
            </a:r>
            <a:r>
              <a:rPr sz="1800" b="0" i="0">
                <a:solidFill>
                  <a:srgbClr val="1E293B"/>
                </a:solidFill>
                <a:latin typeface="Calibri"/>
              </a:rPr>
              <a:t>The fog colour sampled the whole sky, so one horizon star painted a streak on every surface in its column. Fix: fog uses the smooth atmosphere only.</a:t>
            </a:r>
          </a:p>
        </p:txBody>
      </p:sp>
      <p:pic>
        <p:nvPicPr>
          <p:cNvPr id="9" name="Picture 8" descr="gate_night_bu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03120"/>
            <a:ext cx="3200400" cy="180022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930777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Before (streak left of centre)</a:t>
            </a:r>
          </a:p>
        </p:txBody>
      </p:sp>
      <p:pic>
        <p:nvPicPr>
          <p:cNvPr id="11" name="Picture 10" descr="gate_n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60545"/>
            <a:ext cx="3200400" cy="1800225"/>
          </a:xfrm>
          <a:prstGeom prst="rect">
            <a:avLst/>
          </a:prstGeom>
          <a:ln w="9525">
            <a:solidFill>
              <a:srgbClr val="D5DEE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48640" y="6188202"/>
            <a:ext cx="3200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0312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03120"/>
            <a:ext cx="82296" cy="118872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17627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Limitations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56032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Blocky primitive models; no true global illumination; lumpy foliage; tuned by scripts and screenshots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42900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3429000"/>
            <a:ext cx="82296" cy="118872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50215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Future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88620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Leaf cards, screen-space GI, point-light shadows, multiplayer, a compute-shader 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754880"/>
            <a:ext cx="7223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4754880"/>
            <a:ext cx="82296" cy="1188720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828032"/>
            <a:ext cx="69494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Take-away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212080"/>
            <a:ext cx="6949440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56032" indent="-256032">
              <a:lnSpc>
                <a:spcPct val="100000"/>
              </a:lnSpc>
              <a:spcAft>
                <a:spcPts val="300"/>
              </a:spcAft>
              <a:buClr>
                <a:srgbClr val="007A3D"/>
              </a:buClr>
              <a:buChar char="•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0584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0" name="Picture 9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