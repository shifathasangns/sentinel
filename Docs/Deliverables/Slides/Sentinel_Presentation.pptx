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GPU time per pass (ms)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GPU ms</c:v>
                </c:pt>
              </c:strCache>
            </c:strRef>
          </c:tx>
          <c:spPr>
            <a:solidFill>
              <a:srgbClr val="0F8F85"/>
            </a:solidFill>
          </c:spPr>
          <c:cat>
            <c:strRef>
              <c:f>Sheet1!$A$2:$A$7</c:f>
              <c:strCache>
                <c:ptCount val="6"/>
                <c:pt idx="0">
                  <c:v>Sky table</c:v>
                </c:pt>
                <c:pt idx="1">
                  <c:v>Post</c:v>
                </c:pt>
                <c:pt idx="2">
                  <c:v>SSAO</c:v>
                </c:pt>
                <c:pt idx="3">
                  <c:v>Shadows</c:v>
                </c:pt>
                <c:pt idx="4">
                  <c:v>Lighting</c:v>
                </c:pt>
                <c:pt idx="5">
                  <c:v>Geometry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0.02</c:v>
                </c:pt>
                <c:pt idx="1">
                  <c:v>1.21</c:v>
                </c:pt>
                <c:pt idx="2">
                  <c:v>1.2</c:v>
                </c:pt>
                <c:pt idx="3">
                  <c:v>1.58</c:v>
                </c:pt>
                <c:pt idx="4">
                  <c:v>2.79</c:v>
                </c:pt>
                <c:pt idx="5">
                  <c:v>4.11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4.jpg"/><Relationship Id="rId12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chart" Target="../charts/chart1.xml"/><Relationship Id="rId5" Type="http://schemas.openxmlformats.org/officeDocument/2006/relationships/image" Target="../media/image27.jpg"/><Relationship Id="rId6" Type="http://schemas.openxmlformats.org/officeDocument/2006/relationships/image" Target="../media/image2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2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685800"/>
            <a:ext cx="9601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C7D2E0"/>
                </a:solidFill>
                <a:latin typeface="Calibri"/>
              </a:rPr>
              <a:t>KHULNA UNIVERSITY OF ENGINEERING &amp; TECHNOLOGY   ·   CSE 4102</a:t>
            </a:r>
          </a:p>
        </p:txBody>
      </p:sp>
      <p:sp>
        <p:nvSpPr>
          <p:cNvPr id="4" name="Rectangle 3"/>
          <p:cNvSpPr/>
          <p:nvPr/>
        </p:nvSpPr>
        <p:spPr>
          <a:xfrm>
            <a:off x="960120" y="1143000"/>
            <a:ext cx="82296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800" b="1" i="0">
                <a:solidFill>
                  <a:srgbClr val="FFFFFF"/>
                </a:solidFill>
                <a:latin typeface="Georgia"/>
              </a:rPr>
              <a:t>Sentinel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E6FBF8"/>
                </a:solidFill>
                <a:latin typeface="Calibri"/>
              </a:rPr>
              <a:t>A Fully Procedural Game Engine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0" i="0">
                <a:solidFill>
                  <a:srgbClr val="E6FBF8"/>
                </a:solidFill>
                <a:latin typeface="Calibri"/>
              </a:rPr>
              <a:t>and Open-World Military Shooter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60520"/>
            <a:ext cx="82296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1">
                <a:solidFill>
                  <a:srgbClr val="2DD4BF"/>
                </a:solidFill>
                <a:latin typeface="Calibri"/>
              </a:rPr>
              <a:t>Nothing is loaded from a model, image or sound file: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1">
                <a:solidFill>
                  <a:srgbClr val="2DD4BF"/>
                </a:solidFill>
                <a:latin typeface="Calibri"/>
              </a:rPr>
              <a:t>everything is generated from code and a seed.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97880"/>
            <a:ext cx="502920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Md. Shifat Hasan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C7D2E0"/>
                </a:solidFill>
                <a:latin typeface="Calibri"/>
              </a:rPr>
              <a:t>Roll 2107067  ·  4th Year 1st Term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5897880"/>
            <a:ext cx="548640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C7D2E0"/>
                </a:solidFill>
                <a:latin typeface="Calibri"/>
              </a:rPr>
              <a:t>Instructors: Md Tajmilur Rahman, Md. Mubtashim Abrar Nihal</a:t>
            </a:r>
          </a:p>
          <a:p>
            <a:pPr algn="r">
              <a:lnSpc>
                <a:spcPct val="100000"/>
              </a:lnSpc>
              <a:spcAft>
                <a:spcPts val="100"/>
              </a:spcAft>
            </a:pPr>
            <a:r>
              <a:rPr sz="1300" b="0" i="0">
                <a:solidFill>
                  <a:srgbClr val="C7D2E0"/>
                </a:solidFill>
                <a:latin typeface="Calibri"/>
              </a:rPr>
              <a:t>Computer Graphics and Image Processing Laboratory  ·  October 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head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8686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91440" cy="3474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"/>
            <a:ext cx="1005840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Outline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2 / 10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1344168"/>
            <a:ext cx="457200" cy="457200"/>
          </a:xfrm>
          <a:prstGeom prst="ellipse">
            <a:avLst/>
          </a:prstGeom>
          <a:solidFill>
            <a:srgbClr val="0F8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44168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344168"/>
            <a:ext cx="576072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0" i="0">
                <a:solidFill>
                  <a:srgbClr val="1E293B"/>
                </a:solidFill>
                <a:latin typeface="Calibri"/>
              </a:rPr>
              <a:t>Problem, objectives and architecture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057400"/>
            <a:ext cx="457200" cy="457200"/>
          </a:xfrm>
          <a:prstGeom prst="ellipse">
            <a:avLst/>
          </a:prstGeom>
          <a:solidFill>
            <a:srgbClr val="0F8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057400"/>
            <a:ext cx="576072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0" i="0">
                <a:solidFill>
                  <a:srgbClr val="1E293B"/>
                </a:solidFill>
                <a:latin typeface="Calibri"/>
              </a:rPr>
              <a:t>Procedural shapes and textures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2770632"/>
            <a:ext cx="457200" cy="457200"/>
          </a:xfrm>
          <a:prstGeom prst="ellipse">
            <a:avLst/>
          </a:prstGeom>
          <a:solidFill>
            <a:srgbClr val="0F8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770632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770632"/>
            <a:ext cx="576072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0" i="0">
                <a:solidFill>
                  <a:srgbClr val="1E293B"/>
                </a:solidFill>
                <a:latin typeface="Calibri"/>
              </a:rPr>
              <a:t>Transformations: creating and combining objects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483864"/>
            <a:ext cx="457200" cy="457200"/>
          </a:xfrm>
          <a:prstGeom prst="ellipse">
            <a:avLst/>
          </a:prstGeom>
          <a:solidFill>
            <a:srgbClr val="0F8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483864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483864"/>
            <a:ext cx="576072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0" i="0">
                <a:solidFill>
                  <a:srgbClr val="1E293B"/>
                </a:solidFill>
                <a:latin typeface="Calibri"/>
              </a:rPr>
              <a:t>Illumination models and light sources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197096"/>
            <a:ext cx="457200" cy="457200"/>
          </a:xfrm>
          <a:prstGeom prst="ellipse">
            <a:avLst/>
          </a:prstGeom>
          <a:solidFill>
            <a:srgbClr val="0F8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97096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197096"/>
            <a:ext cx="576072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0" i="0">
                <a:solidFill>
                  <a:srgbClr val="1E293B"/>
                </a:solidFill>
                <a:latin typeface="Calibri"/>
              </a:rPr>
              <a:t>The rendering pipeline: shadows, ambient, tone map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4910328"/>
            <a:ext cx="457200" cy="457200"/>
          </a:xfrm>
          <a:prstGeom prst="ellipse">
            <a:avLst/>
          </a:prstGeom>
          <a:solidFill>
            <a:srgbClr val="0F8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910328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910328"/>
            <a:ext cx="576072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0" i="0">
                <a:solidFill>
                  <a:srgbClr val="1E293B"/>
                </a:solidFill>
                <a:latin typeface="Calibri"/>
              </a:rPr>
              <a:t>Results, verification and a bug fixed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5623560"/>
            <a:ext cx="457200" cy="457200"/>
          </a:xfrm>
          <a:prstGeom prst="ellipse">
            <a:avLst/>
          </a:prstGeom>
          <a:solidFill>
            <a:srgbClr val="0F8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623560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623560"/>
            <a:ext cx="576072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0" i="0">
                <a:solidFill>
                  <a:srgbClr val="1E293B"/>
                </a:solidFill>
                <a:latin typeface="Calibri"/>
              </a:rPr>
              <a:t>Video tour of the project</a:t>
            </a:r>
          </a:p>
        </p:txBody>
      </p:sp>
      <p:pic>
        <p:nvPicPr>
          <p:cNvPr id="29" name="Picture 28" descr="model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737360"/>
            <a:ext cx="4389120" cy="750770"/>
          </a:xfrm>
          <a:prstGeom prst="rect">
            <a:avLst/>
          </a:prstGeom>
          <a:ln w="9525">
            <a:solidFill>
              <a:srgbClr val="D5DEE8"/>
            </a:solidFill>
          </a:ln>
        </p:spPr>
      </p:pic>
      <p:sp>
        <p:nvSpPr>
          <p:cNvPr id="30" name="TextBox 29"/>
          <p:cNvSpPr txBox="1"/>
          <p:nvPr/>
        </p:nvSpPr>
        <p:spPr>
          <a:xfrm>
            <a:off x="7315200" y="2579570"/>
            <a:ext cx="43891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 i="1">
                <a:solidFill>
                  <a:srgbClr val="64748B"/>
                </a:solidFill>
                <a:latin typeface="Calibri"/>
              </a:rPr>
              <a:t>Six illumination models, one sphere each</a:t>
            </a:r>
          </a:p>
        </p:txBody>
      </p:sp>
      <p:pic>
        <p:nvPicPr>
          <p:cNvPr id="31" name="Picture 30" descr="tank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3082490"/>
            <a:ext cx="2148840" cy="1208722"/>
          </a:xfrm>
          <a:prstGeom prst="rect">
            <a:avLst/>
          </a:prstGeom>
          <a:ln w="9525">
            <a:solidFill>
              <a:srgbClr val="D5DEE8"/>
            </a:solidFill>
          </a:ln>
        </p:spPr>
      </p:pic>
      <p:pic>
        <p:nvPicPr>
          <p:cNvPr id="32" name="Picture 31" descr="truck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5480" y="3082490"/>
            <a:ext cx="2148840" cy="1208722"/>
          </a:xfrm>
          <a:prstGeom prst="rect">
            <a:avLst/>
          </a:prstGeom>
          <a:ln w="9525">
            <a:solidFill>
              <a:srgbClr val="D5DEE8"/>
            </a:solidFill>
          </a:ln>
        </p:spPr>
      </p:pic>
      <p:sp>
        <p:nvSpPr>
          <p:cNvPr id="33" name="TextBox 32"/>
          <p:cNvSpPr txBox="1"/>
          <p:nvPr/>
        </p:nvSpPr>
        <p:spPr>
          <a:xfrm>
            <a:off x="7315200" y="4336933"/>
            <a:ext cx="43891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 i="1">
                <a:solidFill>
                  <a:srgbClr val="64748B"/>
                </a:solidFill>
                <a:latin typeface="Calibri"/>
              </a:rPr>
              <a:t>Objects are transformed primitives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head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8686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91440" cy="3474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"/>
            <a:ext cx="1005840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1. Problem, objectives and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3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9436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1E293B"/>
                </a:solidFill>
                <a:latin typeface="Calibri"/>
              </a:rPr>
              <a:t>Can a complete, playable 3D game be made by code alone on a student laptop?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20240"/>
            <a:ext cx="594360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82296" cy="1280160"/>
          </a:xfrm>
          <a:prstGeom prst="rect">
            <a:avLst/>
          </a:prstGeom>
          <a:solidFill>
            <a:srgbClr val="0F8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93392"/>
            <a:ext cx="56692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F8F85"/>
                </a:solidFill>
                <a:latin typeface="Calibri"/>
              </a:rPr>
              <a:t>Two hard limits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5669280" cy="7498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56032" indent="-256032">
              <a:lnSpc>
                <a:spcPct val="100000"/>
              </a:lnSpc>
              <a:spcAft>
                <a:spcPts val="300"/>
              </a:spcAft>
              <a:buClr>
                <a:srgbClr val="007A3D"/>
              </a:buClr>
              <a:buChar char="•"/>
            </a:pPr>
            <a:r>
              <a:rPr sz="1700" b="0" i="0">
                <a:solidFill>
                  <a:srgbClr val="1E293B"/>
                </a:solidFill>
                <a:latin typeface="Calibri"/>
              </a:rPr>
              <a:t>No model, image or precomputed data file</a:t>
            </a:r>
          </a:p>
          <a:p>
            <a:pPr algn="l" marL="256032" indent="-256032">
              <a:lnSpc>
                <a:spcPct val="100000"/>
              </a:lnSpc>
              <a:spcAft>
                <a:spcPts val="300"/>
              </a:spcAft>
              <a:buClr>
                <a:srgbClr val="007A3D"/>
              </a:buClr>
              <a:buChar char="•"/>
            </a:pPr>
            <a:r>
              <a:rPr sz="1700" b="0" i="0">
                <a:solidFill>
                  <a:srgbClr val="1E293B"/>
                </a:solidFill>
                <a:latin typeface="Calibri"/>
              </a:rPr>
              <a:t>macOS OpenGL 4.1: no compute shaders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37560"/>
            <a:ext cx="5943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337560"/>
            <a:ext cx="82296" cy="1828800"/>
          </a:xfrm>
          <a:prstGeom prst="rect">
            <a:avLst/>
          </a:prstGeom>
          <a:solidFill>
            <a:srgbClr val="0F8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10712"/>
            <a:ext cx="56692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F8F85"/>
                </a:solidFill>
                <a:latin typeface="Calibri"/>
              </a:rPr>
              <a:t>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94760"/>
            <a:ext cx="5669280" cy="12984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56032" indent="-256032">
              <a:lnSpc>
                <a:spcPct val="100000"/>
              </a:lnSpc>
              <a:spcAft>
                <a:spcPts val="300"/>
              </a:spcAft>
              <a:buClr>
                <a:srgbClr val="007A3D"/>
              </a:buClr>
              <a:buChar char="•"/>
            </a:pPr>
            <a:r>
              <a:rPr sz="1600" b="0" i="0">
                <a:solidFill>
                  <a:srgbClr val="1E293B"/>
                </a:solidFill>
                <a:latin typeface="Calibri"/>
              </a:rPr>
              <a:t>Layered engine, downward dependencies</a:t>
            </a:r>
          </a:p>
          <a:p>
            <a:pPr algn="l" marL="256032" indent="-256032">
              <a:lnSpc>
                <a:spcPct val="100000"/>
              </a:lnSpc>
              <a:spcAft>
                <a:spcPts val="300"/>
              </a:spcAft>
              <a:buClr>
                <a:srgbClr val="007A3D"/>
              </a:buClr>
              <a:buChar char="•"/>
            </a:pPr>
            <a:r>
              <a:rPr sz="1600" b="0" i="0">
                <a:solidFill>
                  <a:srgbClr val="1E293B"/>
                </a:solidFill>
                <a:latin typeface="Calibri"/>
              </a:rPr>
              <a:t>All content from code and seeds</a:t>
            </a:r>
          </a:p>
          <a:p>
            <a:pPr algn="l" marL="256032" indent="-256032">
              <a:lnSpc>
                <a:spcPct val="100000"/>
              </a:lnSpc>
              <a:spcAft>
                <a:spcPts val="300"/>
              </a:spcAft>
              <a:buClr>
                <a:srgbClr val="007A3D"/>
              </a:buClr>
              <a:buChar char="•"/>
            </a:pPr>
            <a:r>
              <a:rPr sz="1600" b="0" i="0">
                <a:solidFill>
                  <a:srgbClr val="1E293B"/>
                </a:solidFill>
                <a:latin typeface="Calibri"/>
              </a:rPr>
              <a:t>Modern renderer and a playable game</a:t>
            </a:r>
          </a:p>
          <a:p>
            <a:pPr algn="l" marL="256032" indent="-256032">
              <a:lnSpc>
                <a:spcPct val="100000"/>
              </a:lnSpc>
              <a:spcAft>
                <a:spcPts val="300"/>
              </a:spcAft>
              <a:buClr>
                <a:srgbClr val="007A3D"/>
              </a:buClr>
              <a:buChar char="•"/>
            </a:pPr>
            <a:r>
              <a:rPr sz="1600" b="0" i="0">
                <a:solidFill>
                  <a:srgbClr val="1E293B"/>
                </a:solidFill>
                <a:latin typeface="Calibri"/>
              </a:rPr>
              <a:t>Verified by tests and a 16.7 ms budget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03520"/>
            <a:ext cx="111556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303520"/>
            <a:ext cx="82296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349240"/>
            <a:ext cx="1078992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F8F85"/>
                </a:solidFill>
                <a:latin typeface="Calibri"/>
              </a:rPr>
              <a:t>The game: </a:t>
            </a:r>
            <a:r>
              <a:rPr sz="1600" b="0" i="0">
                <a:solidFill>
                  <a:srgbClr val="1E293B"/>
                </a:solidFill>
                <a:latin typeface="Calibri"/>
              </a:rPr>
              <a:t>jeep, truck, carrier, tank and a helicopter you can drive; ladders and doors; stealth enemies; a five-objective mission (hack, destroy, rescue, extract); all sounds synthesised.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1097280"/>
            <a:ext cx="4206240" cy="566928"/>
          </a:xfrm>
          <a:prstGeom prst="roundRect">
            <a:avLst>
              <a:gd name="adj" fmla="val 6000"/>
            </a:avLst>
          </a:prstGeom>
          <a:solidFill>
            <a:srgbClr val="E4F6F3"/>
          </a:solidFill>
          <a:ln w="9525">
            <a:solidFill>
              <a:srgbClr val="0F8F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1097280"/>
            <a:ext cx="42062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Game: mission, AI, vehicles, sound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1737360"/>
            <a:ext cx="4206240" cy="566928"/>
          </a:xfrm>
          <a:prstGeom prst="roundRect">
            <a:avLst>
              <a:gd name="adj" fmla="val 6000"/>
            </a:avLst>
          </a:prstGeom>
          <a:solidFill>
            <a:srgbClr val="D6EDEB"/>
          </a:solidFill>
          <a:ln w="9525">
            <a:solidFill>
              <a:srgbClr val="0F8F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1737360"/>
            <a:ext cx="42062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Render: deferred, lights, sky, post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0" y="2377439"/>
            <a:ext cx="4206240" cy="566928"/>
          </a:xfrm>
          <a:prstGeom prst="roundRect">
            <a:avLst>
              <a:gd name="adj" fmla="val 6000"/>
            </a:avLst>
          </a:prstGeom>
          <a:solidFill>
            <a:srgbClr val="C8E4E3"/>
          </a:solidFill>
          <a:ln w="9525">
            <a:solidFill>
              <a:srgbClr val="0F8F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2377439"/>
            <a:ext cx="42062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World: collision, terrain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3017520"/>
            <a:ext cx="4206240" cy="566928"/>
          </a:xfrm>
          <a:prstGeom prst="roundRect">
            <a:avLst>
              <a:gd name="adj" fmla="val 6000"/>
            </a:avLst>
          </a:prstGeom>
          <a:solidFill>
            <a:srgbClr val="BADBDB"/>
          </a:solidFill>
          <a:ln w="9525">
            <a:solidFill>
              <a:srgbClr val="0F8F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3017520"/>
            <a:ext cx="42062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Procedural: noise, textures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40880" y="3657600"/>
            <a:ext cx="4206240" cy="566928"/>
          </a:xfrm>
          <a:prstGeom prst="roundRect">
            <a:avLst>
              <a:gd name="adj" fmla="val 6000"/>
            </a:avLst>
          </a:prstGeom>
          <a:solidFill>
            <a:srgbClr val="ACD2D3"/>
          </a:solidFill>
          <a:ln w="9525">
            <a:solidFill>
              <a:srgbClr val="0F8F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0" y="3657600"/>
            <a:ext cx="42062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GPU: shaders, buffers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0" y="4297680"/>
            <a:ext cx="4206240" cy="566928"/>
          </a:xfrm>
          <a:prstGeom prst="roundRect">
            <a:avLst>
              <a:gd name="adj" fmla="val 6000"/>
            </a:avLst>
          </a:prstGeom>
          <a:solidFill>
            <a:srgbClr val="9EC9CB"/>
          </a:solidFill>
          <a:ln w="9525">
            <a:solidFill>
              <a:srgbClr val="0F8F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0" y="4297680"/>
            <a:ext cx="42062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Platform: window, input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1521440" y="1143000"/>
            <a:ext cx="0" cy="3611880"/>
          </a:xfrm>
          <a:prstGeom prst="line">
            <a:avLst/>
          </a:prstGeom>
          <a:ln w="25400">
            <a:solidFill>
              <a:srgbClr val="0F8F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858000" y="4919472"/>
            <a:ext cx="47548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 i="1">
                <a:solidFill>
                  <a:srgbClr val="64748B"/>
                </a:solidFill>
                <a:latin typeface="Calibri"/>
              </a:rPr>
              <a:t>A lower layer never knows a higher 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head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8686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91440" cy="3474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"/>
            <a:ext cx="1005840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2. Procedural shapes and textures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4 / 10</a:t>
            </a:r>
          </a:p>
        </p:txBody>
      </p:sp>
      <p:pic>
        <p:nvPicPr>
          <p:cNvPr id="8" name="Picture 7" descr="noise_sta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1051560"/>
            <a:ext cx="8503920" cy="1669481"/>
          </a:xfrm>
          <a:prstGeom prst="rect">
            <a:avLst/>
          </a:prstGeom>
          <a:ln w="9525">
            <a:solidFill>
              <a:srgbClr val="D5DEE8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1828800" y="2748473"/>
            <a:ext cx="8503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0" i="1">
                <a:solidFill>
                  <a:srgbClr val="64748B"/>
                </a:solidFill>
                <a:latin typeface="Calibri"/>
              </a:rPr>
              <a:t>gradient, fractal, warped, ridged and cellular noise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78241"/>
            <a:ext cx="5303520" cy="317683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233105"/>
            <a:ext cx="50292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F8F85"/>
                </a:solidFill>
                <a:latin typeface="Calibri"/>
              </a:rPr>
              <a:t>Fractal noise (tiles exactly)</a:t>
            </a:r>
          </a:p>
        </p:txBody>
      </p:sp>
      <p:pic>
        <p:nvPicPr>
          <p:cNvPr id="12" name="Picture 11" descr="fract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799" y="3589721"/>
            <a:ext cx="5029200" cy="155514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" y="5372801"/>
            <a:ext cx="493776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F8F85"/>
                </a:solidFill>
                <a:latin typeface="Calibri"/>
              </a:rPr>
              <a:t>Vertex push by a noise deformer</a:t>
            </a:r>
          </a:p>
        </p:txBody>
      </p:sp>
      <p:pic>
        <p:nvPicPr>
          <p:cNvPr id="14" name="Picture 13" descr="pus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84281"/>
            <a:ext cx="4846320" cy="39246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217920" y="3178241"/>
            <a:ext cx="5486400" cy="3108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56032" indent="-256032">
              <a:lnSpc>
                <a:spcPct val="100000"/>
              </a:lnSpc>
              <a:spcAft>
                <a:spcPts val="1000"/>
              </a:spcAft>
              <a:buClr>
                <a:srgbClr val="007A3D"/>
              </a:buClr>
              <a:buChar char="•"/>
            </a:pPr>
            <a:r>
              <a:rPr sz="2000" b="0" i="0">
                <a:solidFill>
                  <a:srgbClr val="1E293B"/>
                </a:solidFill>
                <a:latin typeface="Calibri"/>
              </a:rPr>
              <a:t>18 recipes → 22 materials, baked once at 1024²</a:t>
            </a:r>
          </a:p>
          <a:p>
            <a:pPr algn="l" marL="256032" indent="-256032">
              <a:lnSpc>
                <a:spcPct val="100000"/>
              </a:lnSpc>
              <a:spcAft>
                <a:spcPts val="1000"/>
              </a:spcAft>
              <a:buClr>
                <a:srgbClr val="007A3D"/>
              </a:buClr>
              <a:buChar char="•"/>
            </a:pPr>
            <a:r>
              <a:rPr sz="2000" b="0" i="0">
                <a:solidFill>
                  <a:srgbClr val="1E293B"/>
                </a:solidFill>
                <a:latin typeface="Calibri"/>
              </a:rPr>
              <a:t>Scharr filter turns height into bumps; crevices darken</a:t>
            </a:r>
          </a:p>
          <a:p>
            <a:pPr algn="l" marL="256032" indent="-256032">
              <a:lnSpc>
                <a:spcPct val="100000"/>
              </a:lnSpc>
              <a:spcAft>
                <a:spcPts val="1000"/>
              </a:spcAft>
              <a:buClr>
                <a:srgbClr val="007A3D"/>
              </a:buClr>
              <a:buChar char="•"/>
            </a:pPr>
            <a:r>
              <a:rPr sz="2000" b="0" i="0">
                <a:solidFill>
                  <a:srgbClr val="1E293B"/>
                </a:solidFill>
                <a:latin typeface="Calibri"/>
              </a:rPr>
              <a:t>Objects are tables of primitives plus noise deformers</a:t>
            </a:r>
          </a:p>
          <a:p>
            <a:pPr algn="l" marL="256032" indent="-256032">
              <a:lnSpc>
                <a:spcPct val="100000"/>
              </a:lnSpc>
              <a:spcAft>
                <a:spcPts val="1000"/>
              </a:spcAft>
              <a:buClr>
                <a:srgbClr val="007A3D"/>
              </a:buClr>
              <a:buChar char="•"/>
            </a:pPr>
            <a:r>
              <a:rPr sz="2000" b="0" i="0">
                <a:solidFill>
                  <a:srgbClr val="1E293B"/>
                </a:solidFill>
                <a:latin typeface="Calibri"/>
              </a:rPr>
              <a:t>Soldiers: skeletons with two-bone IK legs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head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8686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91440" cy="3474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"/>
            <a:ext cx="1005840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3. Transformations: creating and combining objects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5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51560"/>
            <a:ext cx="16916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F8F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69164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Primitive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mesh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40280" y="1435608"/>
            <a:ext cx="182880" cy="0"/>
          </a:xfrm>
          <a:prstGeom prst="line">
            <a:avLst/>
          </a:prstGeom>
          <a:ln w="19050">
            <a:solidFill>
              <a:srgbClr val="0F8F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423160" y="1051560"/>
            <a:ext cx="16916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F8F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1051560"/>
            <a:ext cx="169164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Deformers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(own space)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14800" y="1435608"/>
            <a:ext cx="182880" cy="0"/>
          </a:xfrm>
          <a:prstGeom prst="line">
            <a:avLst/>
          </a:prstGeom>
          <a:ln w="19050">
            <a:solidFill>
              <a:srgbClr val="0F8F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297680" y="1051560"/>
            <a:ext cx="16916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F8F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051560"/>
            <a:ext cx="169164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M_part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scale, turn, move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89320" y="1435608"/>
            <a:ext cx="182880" cy="0"/>
          </a:xfrm>
          <a:prstGeom prst="line">
            <a:avLst/>
          </a:prstGeom>
          <a:ln w="19050">
            <a:solidFill>
              <a:srgbClr val="0F8F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72200" y="1051560"/>
            <a:ext cx="16916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F8F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1051560"/>
            <a:ext cx="169164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Merge by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material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63840" y="1435608"/>
            <a:ext cx="182880" cy="0"/>
          </a:xfrm>
          <a:prstGeom prst="line">
            <a:avLst/>
          </a:prstGeom>
          <a:ln w="19050">
            <a:solidFill>
              <a:srgbClr val="0F8F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046720" y="1051560"/>
            <a:ext cx="16916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F8F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1051560"/>
            <a:ext cx="169164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M_world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instances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738360" y="1435608"/>
            <a:ext cx="182880" cy="0"/>
          </a:xfrm>
          <a:prstGeom prst="line">
            <a:avLst/>
          </a:prstGeom>
          <a:ln w="19050">
            <a:solidFill>
              <a:srgbClr val="0F8F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921240" y="1051560"/>
            <a:ext cx="169164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F8F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21240" y="1051560"/>
            <a:ext cx="169164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V then 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to screen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2057400"/>
            <a:ext cx="566928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2103120"/>
            <a:ext cx="5394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F8F85"/>
                </a:solidFill>
                <a:latin typeface="Calibri"/>
              </a:rPr>
              <a:t>One part: scale, then turn, then move</a:t>
            </a:r>
          </a:p>
        </p:txBody>
      </p:sp>
      <p:pic>
        <p:nvPicPr>
          <p:cNvPr id="27" name="Picture 26" descr="mp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542032"/>
            <a:ext cx="5303520" cy="44248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5800" y="3017520"/>
            <a:ext cx="539496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Calibri"/>
              </a:rPr>
              <a:t>Matrices act right to left: the brick is stretched, turned about its own centre, and moved last.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Calibri"/>
              </a:rPr>
              <a:t>(1,0,0) → S(2,1,1) → R_y 90° → T(5,0,0) = (5, 0, −2)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434840"/>
            <a:ext cx="56692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480560"/>
            <a:ext cx="5394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F8F85"/>
                </a:solidFill>
                <a:latin typeface="Calibri"/>
              </a:rPr>
              <a:t>Normals use the inverse transpose</a:t>
            </a:r>
          </a:p>
        </p:txBody>
      </p:sp>
      <p:pic>
        <p:nvPicPr>
          <p:cNvPr id="31" name="Picture 30" descr="nm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92040"/>
            <a:ext cx="2079345" cy="82296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926080" y="4937760"/>
            <a:ext cx="32004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0" i="0">
                <a:solidFill>
                  <a:srgbClr val="1E293B"/>
                </a:solidFill>
                <a:latin typeface="Calibri"/>
              </a:rPr>
              <a:t>stays perpendicular after a stretch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760720"/>
            <a:ext cx="539496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S = diag(2,1,1): correct (0.447, 0.894, 0); naive (0.894, 0.447, 0) is wrong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2057400"/>
            <a:ext cx="52120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2103120"/>
            <a:ext cx="49377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F8F85"/>
                </a:solidFill>
                <a:latin typeface="Calibri"/>
              </a:rPr>
              <a:t>Rotation about y</a:t>
            </a:r>
          </a:p>
        </p:txBody>
      </p:sp>
      <p:pic>
        <p:nvPicPr>
          <p:cNvPr id="36" name="Picture 35" descr="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2514600"/>
            <a:ext cx="3375251" cy="105156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6492240" y="3794760"/>
            <a:ext cx="52120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3840480"/>
            <a:ext cx="49377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F8F85"/>
                </a:solidFill>
                <a:latin typeface="Calibri"/>
              </a:rPr>
              <a:t>Hierarchy: products down the chain</a:t>
            </a:r>
          </a:p>
        </p:txBody>
      </p:sp>
      <p:pic>
        <p:nvPicPr>
          <p:cNvPr id="39" name="Picture 38" descr="mgu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4297680"/>
            <a:ext cx="4937760" cy="369671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629400" y="4663440"/>
            <a:ext cx="49377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Turning the hull carries turret and gun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92240" y="5257800"/>
            <a:ext cx="521208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29400" y="5303520"/>
            <a:ext cx="49377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F8F85"/>
                </a:solidFill>
                <a:latin typeface="Calibri"/>
              </a:rPr>
              <a:t>World to screen</a:t>
            </a:r>
          </a:p>
        </p:txBody>
      </p:sp>
      <p:pic>
        <p:nvPicPr>
          <p:cNvPr id="43" name="Picture 42" descr="cli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5760720"/>
            <a:ext cx="4206240" cy="4952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head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8686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91440" cy="3474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"/>
            <a:ext cx="1005840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4. Illumination models and light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6 / 10</a:t>
            </a:r>
          </a:p>
        </p:txBody>
      </p:sp>
      <p:pic>
        <p:nvPicPr>
          <p:cNvPr id="8" name="Picture 7" descr="su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051560"/>
            <a:ext cx="8412480" cy="8533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418320" y="1024128"/>
            <a:ext cx="23774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1">
                <a:solidFill>
                  <a:srgbClr val="64748B"/>
                </a:solidFill>
                <a:latin typeface="Calibri"/>
              </a:rPr>
              <a:t>f = model, att = falloff, sh = shadow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640080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29384"/>
            <a:ext cx="19202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F8F85"/>
                </a:solidFill>
                <a:latin typeface="Calibri"/>
              </a:rPr>
              <a:t>Lambert</a:t>
            </a:r>
          </a:p>
        </p:txBody>
      </p:sp>
      <p:pic>
        <p:nvPicPr>
          <p:cNvPr id="12" name="Picture 11" descr="lambe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760" y="1892807"/>
            <a:ext cx="852856" cy="5669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" y="2670048"/>
            <a:ext cx="19202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F8F85"/>
                </a:solidFill>
                <a:latin typeface="Calibri"/>
              </a:rPr>
              <a:t>Phong</a:t>
            </a:r>
          </a:p>
        </p:txBody>
      </p:sp>
      <p:pic>
        <p:nvPicPr>
          <p:cNvPr id="14" name="Picture 13" descr="pho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1760" y="2633472"/>
            <a:ext cx="3272559" cy="53035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3410712"/>
            <a:ext cx="19202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F8F85"/>
                </a:solidFill>
                <a:latin typeface="Calibri"/>
              </a:rPr>
              <a:t>Blinn–Phong</a:t>
            </a:r>
          </a:p>
        </p:txBody>
      </p:sp>
      <p:pic>
        <p:nvPicPr>
          <p:cNvPr id="16" name="Picture 15" descr="blin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1760" y="3374136"/>
            <a:ext cx="3313672" cy="5303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5800" y="4151376"/>
            <a:ext cx="19202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F8F85"/>
                </a:solidFill>
                <a:latin typeface="Calibri"/>
              </a:rPr>
              <a:t>Oren–Nayar</a:t>
            </a:r>
          </a:p>
        </p:txBody>
      </p:sp>
      <p:pic>
        <p:nvPicPr>
          <p:cNvPr id="18" name="Picture 17" descr="or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1760" y="4114800"/>
            <a:ext cx="4206240" cy="51459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5800" y="4892040"/>
            <a:ext cx="19202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F8F85"/>
                </a:solidFill>
                <a:latin typeface="Calibri"/>
              </a:rPr>
              <a:t>Cook–Torrance</a:t>
            </a:r>
          </a:p>
        </p:txBody>
      </p:sp>
      <p:pic>
        <p:nvPicPr>
          <p:cNvPr id="20" name="Picture 19" descr="ct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1760" y="4855464"/>
            <a:ext cx="3296093" cy="56692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5800" y="5632704"/>
            <a:ext cx="19202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F8F85"/>
                </a:solidFill>
                <a:latin typeface="Calibri"/>
              </a:rPr>
              <a:t>Subsurface</a:t>
            </a:r>
          </a:p>
        </p:txBody>
      </p:sp>
      <p:pic>
        <p:nvPicPr>
          <p:cNvPr id="22" name="Picture 21" descr="ss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51760" y="5596128"/>
            <a:ext cx="2632165" cy="566928"/>
          </a:xfrm>
          <a:prstGeom prst="rect">
            <a:avLst/>
          </a:prstGeom>
        </p:spPr>
      </p:pic>
      <p:pic>
        <p:nvPicPr>
          <p:cNvPr id="23" name="Picture 22" descr="models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23760" y="1783080"/>
            <a:ext cx="4480560" cy="766411"/>
          </a:xfrm>
          <a:prstGeom prst="rect">
            <a:avLst/>
          </a:prstGeom>
          <a:ln w="9525">
            <a:solidFill>
              <a:srgbClr val="D5DEE8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7223760" y="2567779"/>
            <a:ext cx="4480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1">
                <a:solidFill>
                  <a:srgbClr val="64748B"/>
                </a:solidFill>
                <a:latin typeface="Calibri"/>
              </a:rPr>
              <a:t>Six models, one sphere each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0" y="2915251"/>
            <a:ext cx="4480560" cy="34398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60920" y="2951827"/>
            <a:ext cx="42062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 i="0">
                <a:solidFill>
                  <a:srgbClr val="0F8F85"/>
                </a:solidFill>
                <a:latin typeface="Calibri"/>
              </a:rPr>
              <a:t>Light sources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3372451"/>
            <a:ext cx="4206240" cy="1554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56032" indent="-256032">
              <a:lnSpc>
                <a:spcPct val="100000"/>
              </a:lnSpc>
              <a:spcAft>
                <a:spcPts val="300"/>
              </a:spcAft>
              <a:buClr>
                <a:srgbClr val="007A3D"/>
              </a:buClr>
              <a:buChar char="•"/>
            </a:pPr>
            <a:r>
              <a:rPr sz="1600" b="0" i="0">
                <a:solidFill>
                  <a:srgbClr val="1E293B"/>
                </a:solidFill>
                <a:latin typeface="Calibri"/>
              </a:rPr>
              <a:t>Directional: sun, moon</a:t>
            </a:r>
          </a:p>
          <a:p>
            <a:pPr algn="l" marL="256032" indent="-256032">
              <a:lnSpc>
                <a:spcPct val="100000"/>
              </a:lnSpc>
              <a:spcAft>
                <a:spcPts val="300"/>
              </a:spcAft>
              <a:buClr>
                <a:srgbClr val="007A3D"/>
              </a:buClr>
              <a:buChar char="•"/>
            </a:pPr>
            <a:r>
              <a:rPr sz="1600" b="0" i="0">
                <a:solidFill>
                  <a:srgbClr val="1E293B"/>
                </a:solidFill>
                <a:latin typeface="Calibri"/>
              </a:rPr>
              <a:t>Point: lamps, flashes</a:t>
            </a:r>
          </a:p>
          <a:p>
            <a:pPr algn="l" marL="256032" indent="-256032">
              <a:lnSpc>
                <a:spcPct val="100000"/>
              </a:lnSpc>
              <a:spcAft>
                <a:spcPts val="300"/>
              </a:spcAft>
              <a:buClr>
                <a:srgbClr val="007A3D"/>
              </a:buClr>
              <a:buChar char="•"/>
            </a:pPr>
            <a:r>
              <a:rPr sz="1600" b="0" i="0">
                <a:solidFill>
                  <a:srgbClr val="1E293B"/>
                </a:solidFill>
                <a:latin typeface="Calibri"/>
              </a:rPr>
              <a:t>Spot: floodlights (cone)</a:t>
            </a:r>
          </a:p>
          <a:p>
            <a:pPr algn="l" marL="256032" indent="-256032">
              <a:lnSpc>
                <a:spcPct val="100000"/>
              </a:lnSpc>
              <a:spcAft>
                <a:spcPts val="300"/>
              </a:spcAft>
              <a:buClr>
                <a:srgbClr val="007A3D"/>
              </a:buClr>
              <a:buChar char="•"/>
            </a:pPr>
            <a:r>
              <a:rPr sz="1600" b="0" i="0">
                <a:solidFill>
                  <a:srgbClr val="1E293B"/>
                </a:solidFill>
                <a:latin typeface="Calibri"/>
              </a:rPr>
              <a:t>Area: 4×4 point samples</a:t>
            </a:r>
          </a:p>
        </p:txBody>
      </p:sp>
      <p:pic>
        <p:nvPicPr>
          <p:cNvPr id="28" name="Picture 27" descr="at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60920" y="5257800"/>
            <a:ext cx="3108960" cy="6177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head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8686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91440" cy="3474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"/>
            <a:ext cx="1005840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5. The rendering pipeline: shadows, ambient, tone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7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141732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F8F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41732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Sky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table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65960" y="1463040"/>
            <a:ext cx="182880" cy="0"/>
          </a:xfrm>
          <a:prstGeom prst="line">
            <a:avLst/>
          </a:prstGeom>
          <a:ln w="19050">
            <a:solidFill>
              <a:srgbClr val="0F8F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148840" y="1097280"/>
            <a:ext cx="141732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F8F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40" y="1097280"/>
            <a:ext cx="141732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Shadows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3 cascades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66160" y="1463040"/>
            <a:ext cx="182880" cy="0"/>
          </a:xfrm>
          <a:prstGeom prst="line">
            <a:avLst/>
          </a:prstGeom>
          <a:ln w="19050">
            <a:solidFill>
              <a:srgbClr val="0F8F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749039" y="1097280"/>
            <a:ext cx="141732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F8F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39" y="1097280"/>
            <a:ext cx="141732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Geometry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G-buffer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166359" y="1463040"/>
            <a:ext cx="182881" cy="0"/>
          </a:xfrm>
          <a:prstGeom prst="line">
            <a:avLst/>
          </a:prstGeom>
          <a:ln w="19050">
            <a:solidFill>
              <a:srgbClr val="0F8F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349240" y="1097280"/>
            <a:ext cx="141732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F8F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1097280"/>
            <a:ext cx="141732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SSAO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766559" y="1463040"/>
            <a:ext cx="182881" cy="0"/>
          </a:xfrm>
          <a:prstGeom prst="line">
            <a:avLst/>
          </a:prstGeom>
          <a:ln w="19050">
            <a:solidFill>
              <a:srgbClr val="0F8F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949440" y="1097280"/>
            <a:ext cx="141732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F8F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1097280"/>
            <a:ext cx="141732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Lighting,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reflect, fog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66760" y="1463040"/>
            <a:ext cx="182880" cy="0"/>
          </a:xfrm>
          <a:prstGeom prst="line">
            <a:avLst/>
          </a:prstGeom>
          <a:ln w="19050">
            <a:solidFill>
              <a:srgbClr val="0F8F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549640" y="1097280"/>
            <a:ext cx="141732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F8F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9640" y="1097280"/>
            <a:ext cx="141732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Smoke,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fire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966960" y="1463040"/>
            <a:ext cx="182880" cy="0"/>
          </a:xfrm>
          <a:prstGeom prst="line">
            <a:avLst/>
          </a:prstGeom>
          <a:ln w="19050">
            <a:solidFill>
              <a:srgbClr val="0F8F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149840" y="1097280"/>
            <a:ext cx="141732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F8F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40" y="1097280"/>
            <a:ext cx="141732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Bloom, ACES,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Calibri"/>
              </a:rPr>
              <a:t>FXAA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011680"/>
            <a:ext cx="630936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E293B"/>
                </a:solidFill>
                <a:latin typeface="Calibri"/>
              </a:rPr>
              <a:t>Deferred shading: </a:t>
            </a:r>
            <a:r>
              <a:rPr sz="1600" b="0" i="0">
                <a:solidFill>
                  <a:srgbClr val="1E293B"/>
                </a:solidFill>
                <a:latin typeface="Calibri"/>
              </a:rPr>
              <a:t>store colour, normal, shininess and depth first, then light each pixel once.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2926080"/>
            <a:ext cx="6309360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2971800"/>
            <a:ext cx="5943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F8F85"/>
                </a:solidFill>
                <a:latin typeface="Calibri"/>
              </a:rPr>
              <a:t>Cascaded shadow maps (λ = 0.75, N = 3, n = 0.1, r = 100 m)</a:t>
            </a:r>
          </a:p>
        </p:txBody>
      </p:sp>
      <p:pic>
        <p:nvPicPr>
          <p:cNvPr id="31" name="Picture 30" descr="cs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383280"/>
            <a:ext cx="5120640" cy="710891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85800" y="4160520"/>
            <a:ext cx="59436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0" i="0">
                <a:solidFill>
                  <a:srgbClr val="1E293B"/>
                </a:solidFill>
                <a:latin typeface="Calibri"/>
              </a:rPr>
              <a:t>Cuts at 9.1, 24.2, 100 m; normal-offset lookup, 8 rotated PCF taps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709160"/>
            <a:ext cx="5943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0F8F85"/>
                </a:solidFill>
                <a:latin typeface="Calibri"/>
              </a:rPr>
              <a:t>Fog and tone map</a:t>
            </a:r>
          </a:p>
        </p:txBody>
      </p:sp>
      <p:pic>
        <p:nvPicPr>
          <p:cNvPr id="34" name="Picture 33" descr="fo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074920"/>
            <a:ext cx="2834640" cy="265084"/>
          </a:xfrm>
          <a:prstGeom prst="rect">
            <a:avLst/>
          </a:prstGeom>
        </p:spPr>
      </p:pic>
      <p:pic>
        <p:nvPicPr>
          <p:cNvPr id="35" name="Picture 34" descr="ac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920" y="4983480"/>
            <a:ext cx="2743200" cy="55820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5800" y="5760720"/>
            <a:ext cx="60350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4748B"/>
                </a:solidFill>
                <a:latin typeface="Calibri"/>
              </a:rPr>
              <a:t>Ambient = sky diffuse + split-sum specular, times SSAO</a:t>
            </a:r>
          </a:p>
        </p:txBody>
      </p:sp>
      <p:pic>
        <p:nvPicPr>
          <p:cNvPr id="37" name="Picture 36" descr="dusk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8040" y="2057400"/>
            <a:ext cx="4572000" cy="2571750"/>
          </a:xfrm>
          <a:prstGeom prst="rect">
            <a:avLst/>
          </a:prstGeom>
          <a:ln w="9525">
            <a:solidFill>
              <a:srgbClr val="D5DEE8"/>
            </a:solidFill>
          </a:ln>
        </p:spPr>
      </p:pic>
      <p:sp>
        <p:nvSpPr>
          <p:cNvPr id="38" name="TextBox 37"/>
          <p:cNvSpPr txBox="1"/>
          <p:nvPr/>
        </p:nvSpPr>
        <p:spPr>
          <a:xfrm>
            <a:off x="7178040" y="4702302"/>
            <a:ext cx="4572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0" i="1">
                <a:solidFill>
                  <a:srgbClr val="64748B"/>
                </a:solidFill>
                <a:latin typeface="Calibri"/>
              </a:rPr>
              <a:t>Dusk: sun, sky, haze, shadows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8040" y="5177790"/>
            <a:ext cx="45720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293B"/>
                </a:solidFill>
                <a:latin typeface="Calibri"/>
              </a:rPr>
              <a:t>Sun, moon, lamps, cascaded shadows, SSAO, screen-space reflections, bloom and FXAA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head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8686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91440" cy="3474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"/>
            <a:ext cx="1005840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6. Results, verification and a bug fixed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8 / 10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051560"/>
          <a:ext cx="566928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611880"/>
            <a:ext cx="56692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 i="0">
                <a:solidFill>
                  <a:srgbClr val="0F8F85"/>
                </a:solidFill>
                <a:latin typeface="Calibri"/>
              </a:rPr>
              <a:t>10.9 ms</a:t>
            </a:r>
            <a:r>
              <a:rPr sz="1900" b="0" i="0">
                <a:solidFill>
                  <a:srgbClr val="1E293B"/>
                </a:solidFill>
                <a:latin typeface="Calibri"/>
              </a:rPr>
              <a:t> of the 16.7 ms budget at 1080p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114800"/>
          <a:ext cx="56692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Verification</a:t>
                      </a:r>
                    </a:p>
                  </a:txBody>
                  <a:tcPr marT="27432" marB="27432">
                    <a:solidFill>
                      <a:srgbClr val="0F8F8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marT="27432" marB="27432">
                    <a:solidFill>
                      <a:srgbClr val="0F8F8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Unit tests (13 packages)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281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TextureCheck (exact tiling)</a:t>
                      </a:r>
                    </a:p>
                  </a:txBody>
                  <a:tcPr marT="27432" marB="27432">
                    <a:solidFill>
                      <a:srgbClr val="E6F4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8,318</a:t>
                      </a:r>
                    </a:p>
                  </a:txBody>
                  <a:tcPr marT="27432" marB="27432">
                    <a:solidFill>
                      <a:srgbClr val="E6F4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RenderCheck (lighting probes)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318,567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GpuCheck</a:t>
                      </a:r>
                    </a:p>
                  </a:txBody>
                  <a:tcPr marT="27432" marB="27432">
                    <a:solidFill>
                      <a:srgbClr val="E6F4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T="27432" marB="27432">
                    <a:solidFill>
                      <a:srgbClr val="E6F4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Playthroughs, 5/5 objectives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92240" y="1051560"/>
            <a:ext cx="521208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F8F85"/>
                </a:solidFill>
                <a:latin typeface="Calibri"/>
              </a:rPr>
              <a:t>Bug: a vertical line at night.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Fog sampled the whole sky, so one horizon star streaked a column. Fix: fog uses the smooth atmosphere only.</a:t>
            </a:r>
          </a:p>
        </p:txBody>
      </p:sp>
      <p:pic>
        <p:nvPicPr>
          <p:cNvPr id="12" name="Picture 11" descr="gate_night_bu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2103120"/>
            <a:ext cx="2542032" cy="1429893"/>
          </a:xfrm>
          <a:prstGeom prst="rect">
            <a:avLst/>
          </a:prstGeom>
          <a:ln w="9525">
            <a:solidFill>
              <a:srgbClr val="D5DEE8"/>
            </a:solidFill>
          </a:ln>
        </p:spPr>
      </p:pic>
      <p:pic>
        <p:nvPicPr>
          <p:cNvPr id="13" name="Picture 12" descr="gate_nigh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2288" y="2103120"/>
            <a:ext cx="2542032" cy="1429893"/>
          </a:xfrm>
          <a:prstGeom prst="rect">
            <a:avLst/>
          </a:prstGeom>
          <a:ln w="9525">
            <a:solidFill>
              <a:srgbClr val="D5DEE8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6492240" y="3551300"/>
            <a:ext cx="25420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1">
                <a:solidFill>
                  <a:srgbClr val="64748B"/>
                </a:solidFill>
                <a:latin typeface="Calibri"/>
              </a:rPr>
              <a:t>Before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3551300"/>
            <a:ext cx="25420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1">
                <a:solidFill>
                  <a:srgbClr val="64748B"/>
                </a:solidFill>
                <a:latin typeface="Calibri"/>
              </a:rPr>
              <a:t>After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4114800"/>
            <a:ext cx="521208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4114800"/>
            <a:ext cx="82296" cy="2194560"/>
          </a:xfrm>
          <a:prstGeom prst="rect">
            <a:avLst/>
          </a:prstGeom>
          <a:solidFill>
            <a:srgbClr val="0F8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187952"/>
            <a:ext cx="49377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F8F85"/>
                </a:solidFill>
                <a:latin typeface="Calibri"/>
              </a:rPr>
              <a:t>Limits and future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572000"/>
            <a:ext cx="4937760" cy="1664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56032" indent="-256032">
              <a:lnSpc>
                <a:spcPct val="100000"/>
              </a:lnSpc>
              <a:spcAft>
                <a:spcPts val="300"/>
              </a:spcAft>
              <a:buClr>
                <a:srgbClr val="007A3D"/>
              </a:buClr>
              <a:buChar char="•"/>
            </a:pPr>
            <a:r>
              <a:rPr sz="1400" b="0" i="0">
                <a:solidFill>
                  <a:srgbClr val="1E293B"/>
                </a:solidFill>
                <a:latin typeface="Calibri"/>
              </a:rPr>
              <a:t>Blocky primitive models; no true global illumination; lumpy foliage</a:t>
            </a:r>
          </a:p>
          <a:p>
            <a:pPr algn="l" marL="256032" indent="-256032">
              <a:lnSpc>
                <a:spcPct val="100000"/>
              </a:lnSpc>
              <a:spcAft>
                <a:spcPts val="300"/>
              </a:spcAft>
              <a:buClr>
                <a:srgbClr val="007A3D"/>
              </a:buClr>
              <a:buChar char="•"/>
            </a:pPr>
            <a:r>
              <a:rPr sz="1400" b="0" i="0">
                <a:solidFill>
                  <a:srgbClr val="1E293B"/>
                </a:solidFill>
                <a:latin typeface="Calibri"/>
              </a:rPr>
              <a:t>Leaf cards, screen-space GI, point-light shadows, multiplayer, compute port</a:t>
            </a:r>
          </a:p>
          <a:p>
            <a:pPr algn="l" marL="256032" indent="-256032">
              <a:lnSpc>
                <a:spcPct val="100000"/>
              </a:lnSpc>
              <a:spcAft>
                <a:spcPts val="300"/>
              </a:spcAft>
              <a:buClr>
                <a:srgbClr val="007A3D"/>
              </a:buClr>
              <a:buChar char="•"/>
            </a:pPr>
            <a:r>
              <a:rPr sz="1400" b="0" i="0">
                <a:solidFill>
                  <a:srgbClr val="1E293B"/>
                </a:solidFill>
                <a:latin typeface="Calibri"/>
              </a:rPr>
              <a:t>Take-away: most "art" is a few simple ideas, applied consistently and tested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head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8686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91440" cy="3474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"/>
            <a:ext cx="1005840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7. Video tour of the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head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8686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868680"/>
            <a:ext cx="12191695" cy="41148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91440" cy="34747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"/>
            <a:ext cx="1005840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10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486400" cy="4572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E293B"/>
                </a:solidFill>
                <a:latin typeface="Calibri"/>
              </a:rPr>
              <a:t>[1] K. Perlin, "Improving noise," ACM TOG, 21(3), 2002.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E293B"/>
                </a:solidFill>
                <a:latin typeface="Calibri"/>
              </a:rPr>
              <a:t>[2] S. Worley, "A cellular texture basis function," SIGGRAPH, 1996.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E293B"/>
                </a:solidFill>
                <a:latin typeface="Calibri"/>
              </a:rPr>
              <a:t>[3] R. Cook, K. Torrance, "A reflectance model for computer graphics," ACM TOG, 1(1), 1982.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E293B"/>
                </a:solidFill>
                <a:latin typeface="Calibri"/>
              </a:rPr>
              <a:t>[4] B. Walter et al., "Microfacet models for refraction through rough surfaces," EGSR, 2007.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E293B"/>
                </a:solidFill>
                <a:latin typeface="Calibri"/>
              </a:rPr>
              <a:t>[5] B. Karis, "Real shading in Unreal Engine 4," SIGGRAPH Course, 2013.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E293B"/>
                </a:solidFill>
                <a:latin typeface="Calibri"/>
              </a:rPr>
              <a:t>[6] S. Hillaire, "A scalable and production ready sky and atmosphere rendering technique," CGF, 39(4), 2020.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E293B"/>
                </a:solidFill>
                <a:latin typeface="Calibri"/>
              </a:rPr>
              <a:t>[7] R. Dimitrov, "Cascaded shadow maps," NVIDIA, 2007.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E293B"/>
                </a:solidFill>
                <a:latin typeface="Calibri"/>
              </a:rPr>
              <a:t>[8] M. Oren, S. Nayar, "Generalization of Lambert's reflectance model," SIGGRAPH, 1994.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051560"/>
            <a:ext cx="5486400" cy="4572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E293B"/>
                </a:solidFill>
                <a:latin typeface="Calibri"/>
              </a:rPr>
              <a:t>[9] K. Narkowicz, "ACES filmic tone mapping curve," 2016.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E293B"/>
                </a:solidFill>
                <a:latin typeface="Calibri"/>
              </a:rPr>
              <a:t>[10] J. Jimenez, "Next generation post processing in Call of Duty: Advanced Warfare," SIGGRAPH, 2014.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E293B"/>
                </a:solidFill>
                <a:latin typeface="Calibri"/>
              </a:rPr>
              <a:t>[11] T. Lottes, "FXAA," NVIDIA, 2009.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E293B"/>
                </a:solidFill>
                <a:latin typeface="Calibri"/>
              </a:rPr>
              <a:t>[12] M. Segal, K. Akeley, The OpenGL Graphics System, v4.1, Khronos, 2010.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E293B"/>
                </a:solidFill>
                <a:latin typeface="Calibri"/>
              </a:rPr>
              <a:t>[13] I. Quilez, "Domain warping," iquilezles.org.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E293B"/>
                </a:solidFill>
                <a:latin typeface="Calibri"/>
              </a:rPr>
              <a:t>[14] S. Hargreaves, M. Harris, "Deferred shading," NVIDIA, GDC 2004.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E293B"/>
                </a:solidFill>
                <a:latin typeface="Calibri"/>
              </a:rPr>
              <a:t>[15] H. Scharr, "Optimal operators in digital image processing," Ph.D., Heidelberg, 2000.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 i="0">
                <a:solidFill>
                  <a:srgbClr val="1E293B"/>
                </a:solidFill>
                <a:latin typeface="Calibri"/>
              </a:rPr>
              <a:t>[16] T. Akenine-Möller et al., Real-Time Rendering, 4th ed., CRC Press, 2018.</a:t>
            </a:r>
          </a:p>
        </p:txBody>
      </p:sp>
      <p:pic>
        <p:nvPicPr>
          <p:cNvPr id="10" name="Picture 9" descr="ban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715000"/>
            <a:ext cx="12191695" cy="1143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852160"/>
            <a:ext cx="73152" cy="8229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852160"/>
            <a:ext cx="4572000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5852160"/>
            <a:ext cx="6309360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800" b="0" i="0">
                <a:solidFill>
                  <a:srgbClr val="C7D2E0"/>
                </a:solidFill>
                <a:latin typeface="Calibri"/>
              </a:rPr>
              <a:t>Questions are welcome</a:t>
            </a:r>
          </a:p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800" b="0" i="0">
                <a:solidFill>
                  <a:srgbClr val="C7D2E0"/>
                </a:solidFill>
                <a:latin typeface="Calibri"/>
              </a:rPr>
              <a:t>Md. Shifat Hasan  ·  Roll 2107067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