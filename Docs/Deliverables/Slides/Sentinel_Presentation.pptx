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E293B"/>
                </a:solidFill>
              </a:rPr>
              <a:t>GPU time per pass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 ms</c:v>
                </c:pt>
              </c:strCache>
            </c:strRef>
          </c:tx>
          <c:spPr>
            <a:solidFill>
              <a:srgbClr val="0F8F85"/>
            </a:solidFill>
          </c:spPr>
          <c:cat>
            <c:strRef>
              <c:f>Sheet1!$A$2:$A$7</c:f>
              <c:strCache>
                <c:ptCount val="6"/>
                <c:pt idx="0">
                  <c:v>Sky table</c:v>
                </c:pt>
                <c:pt idx="1">
                  <c:v>Post</c:v>
                </c:pt>
                <c:pt idx="2">
                  <c:v>SSAO</c:v>
                </c:pt>
                <c:pt idx="3">
                  <c:v>Shadows</c:v>
                </c:pt>
                <c:pt idx="4">
                  <c:v>Lighting</c:v>
                </c:pt>
                <c:pt idx="5">
                  <c:v>Geometry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1.21</c:v>
                </c:pt>
                <c:pt idx="2">
                  <c:v>1.2</c:v>
                </c:pt>
                <c:pt idx="3">
                  <c:v>1.58</c:v>
                </c:pt>
                <c:pt idx="4">
                  <c:v>2.79</c:v>
                </c:pt>
                <c:pt idx="5">
                  <c:v>4.11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chart" Target="../charts/chart1.xml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85800"/>
            <a:ext cx="9601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KHULNA UNIVERSITY OF ENGINEERING &amp; TECHNOLOGY   ·   CSE 4102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1143000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800" b="1" i="0">
                <a:solidFill>
                  <a:srgbClr val="FFFFFF"/>
                </a:solidFill>
                <a:latin typeface="Georgia"/>
              </a:rPr>
              <a:t>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 Fully Procedural Game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and Open-World Military Shooter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8229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Nothing is loaded from a model, image or sound file: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everything is generated from code and a seed.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50292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Md. Shifat Hasan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Roll 2107067  ·  4th Year 1st 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897880"/>
            <a:ext cx="5486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Instructors: Md Tajmilur Rahman, Md. Mubtashim Abrar Nihal</a:t>
            </a:r>
          </a:p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Computer Graphics and Image Processing Laboratory  · 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28016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28016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Problem, objectives and architecture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0253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0253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00253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Procedural shapes and textures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2724912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24912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724912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Transformations: creating and combining objects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447288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47288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47288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Illumination models and light sources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169664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4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169664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The rendering pipeline: shadows, ambient, tone map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89204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89204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Results, verification and a bug fixed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1441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1441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61441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Video tour of the project</a:t>
            </a:r>
          </a:p>
        </p:txBody>
      </p:sp>
      <p:pic>
        <p:nvPicPr>
          <p:cNvPr id="30" name="Picture 29" descr="mode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600200"/>
            <a:ext cx="4389120" cy="75077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1" name="TextBox 30"/>
          <p:cNvSpPr txBox="1"/>
          <p:nvPr/>
        </p:nvSpPr>
        <p:spPr>
          <a:xfrm>
            <a:off x="7315200" y="242412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Six illumination models, one sphere each</a:t>
            </a:r>
          </a:p>
        </p:txBody>
      </p:sp>
      <p:pic>
        <p:nvPicPr>
          <p:cNvPr id="32" name="Picture 31" descr="tan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33" name="Picture 32" descr="tru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4" name="TextBox 33"/>
          <p:cNvSpPr txBox="1"/>
          <p:nvPr/>
        </p:nvSpPr>
        <p:spPr>
          <a:xfrm>
            <a:off x="7315200" y="4110047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Objects are transformed primitives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Problem, objectives and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603504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 i="0">
                <a:solidFill>
                  <a:srgbClr val="1E293B"/>
                </a:solidFill>
                <a:latin typeface="Calibri"/>
              </a:rPr>
              <a:t>Can a complete, playable 3D game be made by code alone on a student laptop?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60350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75688"/>
            <a:ext cx="64008" cy="101498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TWO HARD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5669279" cy="7040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No model, image or precomputed data file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macOS OpenGL 4.1: no compute shaders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6035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64008" cy="16093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94760"/>
            <a:ext cx="5669279" cy="12984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Layered engine, downward dependencies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All content from code and seeds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Modern renderer and a playable game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Verified by tests and a 16.7 ms budget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111556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413248"/>
            <a:ext cx="64008" cy="7406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76672"/>
            <a:ext cx="1069848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The game: </a:t>
            </a:r>
            <a:r>
              <a:rPr sz="1600" b="0" i="0">
                <a:solidFill>
                  <a:srgbClr val="1E293B"/>
                </a:solidFill>
                <a:latin typeface="Calibri"/>
              </a:rPr>
              <a:t>jeep, truck, carrier, tank and a helicopter you can drive; ladders and doors; stealth enemies; a five-objective mission (hack, destroy, rescue, extract); all sounds synthesised.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0972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E8F7F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0972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Game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mission, AI, vehicles, sound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73736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DAEEE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73736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Render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deferred, lights, sky, post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2377439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CCE5E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377439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World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collision, terrain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301752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EDCD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301752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Procedural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noise, textures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365760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0D3D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365760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GPU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shaders, buffers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42976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A2CAC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42976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Platform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window, input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521440" y="1143000"/>
            <a:ext cx="0" cy="3611880"/>
          </a:xfrm>
          <a:prstGeom prst="line">
            <a:avLst/>
          </a:prstGeom>
          <a:ln w="2540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0" y="491947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 lower layer never knows a higher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Procedural shapes and textures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pic>
        <p:nvPicPr>
          <p:cNvPr id="9" name="Picture 8" descr="noise_st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51560"/>
            <a:ext cx="5486400" cy="1077084"/>
          </a:xfrm>
          <a:prstGeom prst="rect">
            <a:avLst/>
          </a:prstGeom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48640" y="215607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gradient, fractal, warped, ridged and cellular 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40124"/>
            <a:ext cx="54864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49852"/>
            <a:ext cx="64008" cy="21122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3156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FRACTAL NOISE (TILES EXACTLY)</a:t>
            </a:r>
          </a:p>
        </p:txBody>
      </p:sp>
      <p:pic>
        <p:nvPicPr>
          <p:cNvPr id="14" name="Picture 13" descr="frac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4574" y="2951604"/>
            <a:ext cx="2514530" cy="18105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009004"/>
            <a:ext cx="5486400" cy="13460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118732"/>
            <a:ext cx="64008" cy="1126619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0044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VERTEX PUSH BY A NOISE DEFORMER</a:t>
            </a:r>
          </a:p>
        </p:txBody>
      </p:sp>
      <p:pic>
        <p:nvPicPr>
          <p:cNvPr id="18" name="Picture 17" descr="p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706417"/>
            <a:ext cx="4846320" cy="25300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55080" y="1097280"/>
            <a:ext cx="5349240" cy="3017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18 recipes → 22 materials, baked once at 1024²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Scharr filter turns height into bumps; crevices darken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Objects are tables of primitives plus noise deformers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Soldiers: skeletons with two-bone IK legs</a:t>
            </a:r>
          </a:p>
        </p:txBody>
      </p:sp>
      <p:pic>
        <p:nvPicPr>
          <p:cNvPr id="20" name="Picture 19" descr="showroo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3429000"/>
            <a:ext cx="5120640" cy="288036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21" name="TextBox 20"/>
          <p:cNvSpPr txBox="1"/>
          <p:nvPr/>
        </p:nvSpPr>
        <p:spPr>
          <a:xfrm>
            <a:off x="6492240" y="6364224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The material showroom: one sphere per recipe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Transformations: creating and combining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973580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Primitive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mesh</a:t>
            </a:r>
          </a:p>
        </p:txBody>
      </p:sp>
      <p:sp>
        <p:nvSpPr>
          <p:cNvPr id="11" name="Chevron 10"/>
          <p:cNvSpPr/>
          <p:nvPr/>
        </p:nvSpPr>
        <p:spPr>
          <a:xfrm>
            <a:off x="238506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109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Deformers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(own space)</a:t>
            </a:r>
          </a:p>
        </p:txBody>
      </p:sp>
      <p:sp>
        <p:nvSpPr>
          <p:cNvPr id="13" name="Chevron 12"/>
          <p:cNvSpPr/>
          <p:nvPr/>
        </p:nvSpPr>
        <p:spPr>
          <a:xfrm>
            <a:off x="422148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751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M_part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scale, turn, move</a:t>
            </a:r>
          </a:p>
        </p:txBody>
      </p:sp>
      <p:sp>
        <p:nvSpPr>
          <p:cNvPr id="15" name="Chevron 14"/>
          <p:cNvSpPr/>
          <p:nvPr/>
        </p:nvSpPr>
        <p:spPr>
          <a:xfrm>
            <a:off x="605790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393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Merge by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material</a:t>
            </a:r>
          </a:p>
        </p:txBody>
      </p:sp>
      <p:sp>
        <p:nvSpPr>
          <p:cNvPr id="17" name="Chevron 16"/>
          <p:cNvSpPr/>
          <p:nvPr/>
        </p:nvSpPr>
        <p:spPr>
          <a:xfrm>
            <a:off x="789432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035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M_world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instances</a:t>
            </a:r>
          </a:p>
        </p:txBody>
      </p:sp>
      <p:sp>
        <p:nvSpPr>
          <p:cNvPr id="19" name="Chevron 18"/>
          <p:cNvSpPr/>
          <p:nvPr/>
        </p:nvSpPr>
        <p:spPr>
          <a:xfrm>
            <a:off x="973074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8677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V then 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to screen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011680"/>
            <a:ext cx="56692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21408"/>
            <a:ext cx="64008" cy="19751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ONE PART: SCALE, THEN TURN, THEN MOVE</a:t>
            </a:r>
          </a:p>
        </p:txBody>
      </p:sp>
      <p:pic>
        <p:nvPicPr>
          <p:cNvPr id="24" name="Picture 23" descr="m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38" y="2824695"/>
            <a:ext cx="4556683" cy="358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694175"/>
            <a:ext cx="5303520" cy="493776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Right to left: stretched, turned about its own centre, moved last.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Example: (1,0,0) → S(2,1,1) → R_y 90° → T(5,0,0) = (5, 0, 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43400"/>
            <a:ext cx="566928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453128"/>
            <a:ext cx="64008" cy="17922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43484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NORMALS USE THE INVERSE TRANSPOSE</a:t>
            </a:r>
          </a:p>
        </p:txBody>
      </p:sp>
      <p:pic>
        <p:nvPicPr>
          <p:cNvPr id="29" name="Picture 28" descr="nm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011282"/>
            <a:ext cx="5029200" cy="64848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77240" y="6044184"/>
            <a:ext cx="5303520" cy="292608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S = diag(2,1,1): correct (0.447, 0.894, 0); naive (0.894, 0.447, 0) is wrong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0116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2121408"/>
            <a:ext cx="64008" cy="15636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10312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ROTATION ABOUT Y</a:t>
            </a:r>
          </a:p>
        </p:txBody>
      </p:sp>
      <p:pic>
        <p:nvPicPr>
          <p:cNvPr id="34" name="Picture 33" descr="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133" y="2490254"/>
            <a:ext cx="3676573" cy="1127683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6446520" y="3931920"/>
            <a:ext cx="52578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4041648"/>
            <a:ext cx="64008" cy="96926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023359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HIERARCHY: PRODUCTS DOWN THE CHAIN</a:t>
            </a:r>
          </a:p>
        </p:txBody>
      </p:sp>
      <p:pic>
        <p:nvPicPr>
          <p:cNvPr id="38" name="Picture 37" descr="mg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4518590"/>
            <a:ext cx="4617720" cy="31713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6446520" y="5257800"/>
            <a:ext cx="52578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46520" y="5367528"/>
            <a:ext cx="64008" cy="877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34924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WORLD TO SCREEN</a:t>
            </a:r>
          </a:p>
        </p:txBody>
      </p:sp>
      <p:pic>
        <p:nvPicPr>
          <p:cNvPr id="42" name="Picture 41" descr="cli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0023" y="5785866"/>
            <a:ext cx="3150793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Illumination models and light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87552"/>
            <a:ext cx="81381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97280"/>
            <a:ext cx="64008" cy="10607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078992"/>
            <a:ext cx="77724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DIRECT LIGHT + AMBIENT + EMISSION</a:t>
            </a:r>
          </a:p>
        </p:txBody>
      </p:sp>
      <p:pic>
        <p:nvPicPr>
          <p:cNvPr id="12" name="Picture 11" descr="s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459" y="1399032"/>
            <a:ext cx="6284520" cy="75895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823960" y="987552"/>
            <a:ext cx="28803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097280"/>
            <a:ext cx="64008" cy="10607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514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SYMBOLS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371600"/>
            <a:ext cx="26060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f: illumination model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att: falloff · sh: shadow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N_L: lights · AO: occlusion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e: emission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317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441448"/>
            <a:ext cx="64008" cy="3803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450592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Lambert</a:t>
            </a:r>
          </a:p>
        </p:txBody>
      </p:sp>
      <p:pic>
        <p:nvPicPr>
          <p:cNvPr id="20" name="Picture 19" descr="lamb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441448"/>
            <a:ext cx="725484" cy="4815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77240" y="3026664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099816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Phong</a:t>
            </a:r>
          </a:p>
        </p:txBody>
      </p:sp>
      <p:pic>
        <p:nvPicPr>
          <p:cNvPr id="23" name="Picture 22" descr="ph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3090672"/>
            <a:ext cx="3630989" cy="54864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77240" y="3675887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749039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Blinn–Phong</a:t>
            </a:r>
          </a:p>
        </p:txBody>
      </p:sp>
      <p:pic>
        <p:nvPicPr>
          <p:cNvPr id="26" name="Picture 25" descr="blin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6040" y="3739896"/>
            <a:ext cx="3676451" cy="5486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77240" y="4325112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Oren–Nayar</a:t>
            </a:r>
          </a:p>
        </p:txBody>
      </p:sp>
      <p:pic>
        <p:nvPicPr>
          <p:cNvPr id="29" name="Picture 28" descr="or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06040" y="4389120"/>
            <a:ext cx="4206240" cy="46306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777240" y="4974336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047488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Cook–Torrance</a:t>
            </a:r>
          </a:p>
        </p:txBody>
      </p:sp>
      <p:pic>
        <p:nvPicPr>
          <p:cNvPr id="32" name="Picture 31" descr="c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06040" y="5038344"/>
            <a:ext cx="3255106" cy="54864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77240" y="5623560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96712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Subsurface</a:t>
            </a:r>
          </a:p>
        </p:txBody>
      </p:sp>
      <p:pic>
        <p:nvPicPr>
          <p:cNvPr id="35" name="Picture 34" descr="s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6040" y="5687568"/>
            <a:ext cx="3843144" cy="54864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7223760" y="2331720"/>
            <a:ext cx="44805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23760" y="244144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242316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LIGHT 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2697480"/>
            <a:ext cx="4114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Directional · Point · Spot · Area (4×4 samples)</a:t>
            </a:r>
          </a:p>
        </p:txBody>
      </p:sp>
      <p:pic>
        <p:nvPicPr>
          <p:cNvPr id="40" name="Picture 39" descr="at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76516" y="3017520"/>
            <a:ext cx="2975046" cy="86868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7223760" y="4069080"/>
            <a:ext cx="44805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23760" y="4178808"/>
            <a:ext cx="64008" cy="206654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60" y="416052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DEFINITIONS USED ABOVE</a:t>
            </a:r>
          </a:p>
        </p:txBody>
      </p:sp>
      <p:pic>
        <p:nvPicPr>
          <p:cNvPr id="44" name="Picture 43" descr="def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4717746"/>
            <a:ext cx="3840480" cy="831154"/>
          </a:xfrm>
          <a:prstGeom prst="rect">
            <a:avLst/>
          </a:prstGeom>
        </p:spPr>
      </p:pic>
      <p:pic>
        <p:nvPicPr>
          <p:cNvPr id="45" name="Picture 44" descr="ctdef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5658628"/>
            <a:ext cx="3840480" cy="349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5. The rendering pipeline: shadows, ambient, tone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711234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Sky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table</a:t>
            </a:r>
          </a:p>
        </p:txBody>
      </p:sp>
      <p:sp>
        <p:nvSpPr>
          <p:cNvPr id="11" name="Chevron 10"/>
          <p:cNvSpPr/>
          <p:nvPr/>
        </p:nvSpPr>
        <p:spPr>
          <a:xfrm>
            <a:off x="2122714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8746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Shadows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3 cascades</a:t>
            </a:r>
          </a:p>
        </p:txBody>
      </p:sp>
      <p:sp>
        <p:nvSpPr>
          <p:cNvPr id="13" name="Chevron 12"/>
          <p:cNvSpPr/>
          <p:nvPr/>
        </p:nvSpPr>
        <p:spPr>
          <a:xfrm>
            <a:off x="3696788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282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Geometry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G-buffer</a:t>
            </a:r>
          </a:p>
        </p:txBody>
      </p:sp>
      <p:sp>
        <p:nvSpPr>
          <p:cNvPr id="15" name="Chevron 14"/>
          <p:cNvSpPr/>
          <p:nvPr/>
        </p:nvSpPr>
        <p:spPr>
          <a:xfrm>
            <a:off x="5270862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6894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SSAO</a:t>
            </a:r>
          </a:p>
        </p:txBody>
      </p:sp>
      <p:sp>
        <p:nvSpPr>
          <p:cNvPr id="17" name="Chevron 16"/>
          <p:cNvSpPr/>
          <p:nvPr/>
        </p:nvSpPr>
        <p:spPr>
          <a:xfrm>
            <a:off x="6844937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0969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Lighting,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reflect, fog</a:t>
            </a:r>
          </a:p>
        </p:txBody>
      </p:sp>
      <p:sp>
        <p:nvSpPr>
          <p:cNvPr id="19" name="Chevron 18"/>
          <p:cNvSpPr/>
          <p:nvPr/>
        </p:nvSpPr>
        <p:spPr>
          <a:xfrm>
            <a:off x="8419011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75043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Smoke,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fire</a:t>
            </a:r>
          </a:p>
        </p:txBody>
      </p:sp>
      <p:sp>
        <p:nvSpPr>
          <p:cNvPr id="21" name="Chevron 20"/>
          <p:cNvSpPr/>
          <p:nvPr/>
        </p:nvSpPr>
        <p:spPr>
          <a:xfrm>
            <a:off x="9993085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9117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Bloom, ACES,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FXAA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01168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Deferred shading: </a:t>
            </a:r>
            <a:r>
              <a:rPr sz="1700" b="0" i="0">
                <a:solidFill>
                  <a:srgbClr val="1E293B"/>
                </a:solidFill>
                <a:latin typeface="Calibri"/>
              </a:rPr>
              <a:t>store colour, normal, shininess and depth first, then light each pixel once.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80360"/>
            <a:ext cx="630936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990088"/>
            <a:ext cx="64008" cy="1517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97180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CASCADED SHADOW MAPS</a:t>
            </a:r>
          </a:p>
        </p:txBody>
      </p:sp>
      <p:pic>
        <p:nvPicPr>
          <p:cNvPr id="27" name="Picture 26" descr="c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45204"/>
            <a:ext cx="5669280" cy="59735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77240" y="4105656"/>
            <a:ext cx="5943600" cy="493776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λ = 0.75, N = 3, n = 0.1 m, r = 100 m  →  cuts at 9.1, 24.2, 100 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normal-offset lookup · 8 rotated percentage-closer taps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754880"/>
            <a:ext cx="6309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86460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4632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FOG AND TONE MAP</a:t>
            </a:r>
          </a:p>
        </p:txBody>
      </p:sp>
      <p:pic>
        <p:nvPicPr>
          <p:cNvPr id="32" name="Picture 31" descr="f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71" y="5194998"/>
            <a:ext cx="5570296" cy="384733"/>
          </a:xfrm>
          <a:prstGeom prst="rect">
            <a:avLst/>
          </a:prstGeom>
        </p:spPr>
      </p:pic>
      <p:pic>
        <p:nvPicPr>
          <p:cNvPr id="33" name="Picture 32" descr="a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71172"/>
            <a:ext cx="5669280" cy="545541"/>
          </a:xfrm>
          <a:prstGeom prst="rect">
            <a:avLst/>
          </a:prstGeom>
        </p:spPr>
      </p:pic>
      <p:pic>
        <p:nvPicPr>
          <p:cNvPr id="34" name="Picture 33" descr="dus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2011680"/>
            <a:ext cx="4572000" cy="257175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5" name="TextBox 34"/>
          <p:cNvSpPr txBox="1"/>
          <p:nvPr/>
        </p:nvSpPr>
        <p:spPr>
          <a:xfrm>
            <a:off x="7178040" y="4638294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Dusk: sun, sky, haze, shadows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086350"/>
            <a:ext cx="4572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Sun, moon, lamps, cascaded shadows, SSAO, screen-space reflections, bloom and FXAA. Ambient = sky diffuse + split-sum specular, times SSAO.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6. Results, verification and a bug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51560"/>
            <a:ext cx="576072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61288"/>
            <a:ext cx="64008" cy="25694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31520" y="1097280"/>
          <a:ext cx="5486400" cy="26974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931920"/>
            <a:ext cx="57607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F8F85"/>
                </a:solidFill>
                <a:latin typeface="Calibri"/>
              </a:rPr>
              <a:t>10.9 ms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 of the 16.7 ms budget at 1080p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434840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Unit tests (13 packages)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TextureCheck (exact tiling)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RenderCheck (lighting probes)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318,567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GpuCheck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Playthroughs, 5/5 objectives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0" y="1051560"/>
            <a:ext cx="51206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Bug: a vertical line at night.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Fog sampled the whole sky, so one horizon star streaked a column. Fix: fog uses the smooth atmosphere only.</a:t>
            </a:r>
          </a:p>
        </p:txBody>
      </p:sp>
      <p:pic>
        <p:nvPicPr>
          <p:cNvPr id="15" name="Picture 14" descr="gate_night_b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16" name="Picture 15" descr="gate_n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7152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583680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Before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4114800"/>
            <a:ext cx="512064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4224528"/>
            <a:ext cx="64008" cy="2020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4206240"/>
            <a:ext cx="47548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LIMITS AND FUTURE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572000"/>
            <a:ext cx="4754879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Blocky primitive models; no true global illumination; lumpy foliage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Leaf cards, screen-space GI, point-light shadows, multiplayer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Take-away: most "art" is a few simple ideas, applied consistently and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7. Video tour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[1] K. Perlin, "Improving noise," ACM TOG, 21(3), 2002.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[2] S. Worley, "A cellular texture basis function," SIGGRAPH, 1996.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[3] R. Cook, K. Torrance, "A reflectance model for computer graphics," ACM TOG, 1(1), 1982.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[4] B. Walter et al., "Microfacet models for refraction through rough surfaces," EGSR,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[5] B. Karis, "Real shading in Unreal Engine 4," SIGGRAPH Course, 2013.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[6] S. Hillaire, "A scalable and production ready sky and atmosphere rendering technique," CGF, 39(4), 2020.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[7] R. Dimitrov, "Cascaded shadow maps," NVIDIA,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[8] M. Oren, S. Nayar, "Generalization of Lambert's reflectance model," SIGGRAPH, 1994.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[9] K. Narkowicz, "ACES filmic tone mapping curve," 2016.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[10] J. Jimenez, "Next generation post processing in Call of Duty: Advanced Warfare," SIGGRAPH, 2014.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[11] T. Lottes, "FXAA," NVIDIA, 2009.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[12] M. Segal, K. Akeley, The OpenGL Graphics System, v4.1, Khronos, 2010.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[13] I. Quilez, "Domain warping," iquilezles.org.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[14] S. Hargreaves, M. Harris, "Deferred shading," NVIDIA, GDC 2004.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[15] H. Scharr, "Optimal operators in digital image processing," Ph.D., Heidelberg, 2000.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[16] T. Akenine-Möller et al., Real-Time Rendering, 4th ed., CRC Press, 2018.</a:t>
            </a:r>
          </a:p>
        </p:txBody>
      </p:sp>
      <p:pic>
        <p:nvPicPr>
          <p:cNvPr id="11" name="Picture 10" descr="ba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15000"/>
            <a:ext cx="12191695" cy="114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0080" y="585216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5216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85216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Questions are welcome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Md. Shifat Hasan  ·  Roll 2107067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