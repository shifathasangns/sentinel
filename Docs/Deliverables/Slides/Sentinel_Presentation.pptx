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GPU time per pass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 ms</c:v>
                </c:pt>
              </c:strCache>
            </c:strRef>
          </c:tx>
          <c:spPr>
            <a:solidFill>
              <a:srgbClr val="0F8F85"/>
            </a:solidFill>
          </c:spPr>
          <c:cat>
            <c:strRef>
              <c:f>Sheet1!$A$2:$A$7</c:f>
              <c:strCache>
                <c:ptCount val="6"/>
                <c:pt idx="0">
                  <c:v>Sky table</c:v>
                </c:pt>
                <c:pt idx="1">
                  <c:v>Post</c:v>
                </c:pt>
                <c:pt idx="2">
                  <c:v>SSAO</c:v>
                </c:pt>
                <c:pt idx="3">
                  <c:v>Shadows</c:v>
                </c:pt>
                <c:pt idx="4">
                  <c:v>Lighting</c:v>
                </c:pt>
                <c:pt idx="5">
                  <c:v>Geometry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1.21</c:v>
                </c:pt>
                <c:pt idx="2">
                  <c:v>1.2</c:v>
                </c:pt>
                <c:pt idx="3">
                  <c:v>1.58</c:v>
                </c:pt>
                <c:pt idx="4">
                  <c:v>2.79</c:v>
                </c:pt>
                <c:pt idx="5">
                  <c:v>4.11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4.jpg"/><Relationship Id="rId12" Type="http://schemas.openxmlformats.org/officeDocument/2006/relationships/image" Target="../media/image21.png"/><Relationship Id="rId13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chart" Target="../charts/chart1.xml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85800"/>
            <a:ext cx="9601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KHULNA UNIVERSITY OF ENGINEERING &amp; TECHNOLOGY   ·   CSE 4102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1143000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800" b="1" i="0">
                <a:solidFill>
                  <a:srgbClr val="FFFFFF"/>
                </a:solidFill>
                <a:latin typeface="Georgia"/>
              </a:rPr>
              <a:t>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 Fully Procedural Game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and Open-World Military Shooter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8229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Nothing is loaded from a model, image or sound file: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everything is generated from code and a seed.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50292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Md. Shifat Hasan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Roll 2107067  ·  4th Year 1st 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897880"/>
            <a:ext cx="5486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Instructors: Md Tajmilur Rahman, Md. Mubtashim Abrar Nihal</a:t>
            </a:r>
          </a:p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Computer Graphics and Image Processing Laboratory  · 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344168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44168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44168"/>
            <a:ext cx="57607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Problem, objectives and architecture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057400"/>
            <a:ext cx="57607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Procedural shapes and textures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70632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70632"/>
            <a:ext cx="57607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Transformations: creating and combining objects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483864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83864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483864"/>
            <a:ext cx="57607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Illumination models and light sources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197096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97096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97096"/>
            <a:ext cx="57607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The rendering pipeline: shadows, ambient, tone map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910328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10328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910328"/>
            <a:ext cx="57607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Results, verification and a bug fixed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623560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623560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623560"/>
            <a:ext cx="57607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Video tour of the project</a:t>
            </a:r>
          </a:p>
        </p:txBody>
      </p:sp>
      <p:pic>
        <p:nvPicPr>
          <p:cNvPr id="29" name="Picture 28" descr="mode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737360"/>
            <a:ext cx="4389120" cy="750770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315200" y="2579570"/>
            <a:ext cx="43891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1">
                <a:solidFill>
                  <a:srgbClr val="64748B"/>
                </a:solidFill>
                <a:latin typeface="Calibri"/>
              </a:rPr>
              <a:t>Six illumination models, one sphere each</a:t>
            </a:r>
          </a:p>
        </p:txBody>
      </p:sp>
      <p:pic>
        <p:nvPicPr>
          <p:cNvPr id="31" name="Picture 30" descr="tan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3082490"/>
            <a:ext cx="2148840" cy="1208722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pic>
        <p:nvPicPr>
          <p:cNvPr id="32" name="Picture 31" descr="tru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0" y="3082490"/>
            <a:ext cx="2148840" cy="1208722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7315200" y="4336933"/>
            <a:ext cx="43891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1">
                <a:solidFill>
                  <a:srgbClr val="64748B"/>
                </a:solidFill>
                <a:latin typeface="Calibri"/>
              </a:rPr>
              <a:t>Objects are transformed primitives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Problem, objectives and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943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1E293B"/>
                </a:solidFill>
                <a:latin typeface="Calibri"/>
              </a:rPr>
              <a:t>Can a complete, playable 3D game be made by code alone on a student laptop?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82296" cy="1280160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F8F85"/>
                </a:solidFill>
                <a:latin typeface="Calibri"/>
              </a:rPr>
              <a:t>Two hard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566928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No model, image or precomputed data file</a:t>
            </a:r>
          </a:p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macOS OpenGL 4.1: no compute shaders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37560"/>
            <a:ext cx="5943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82296" cy="1828800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410712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5669280" cy="12984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Layered engine, downward dependencies</a:t>
            </a:r>
          </a:p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All content from code and seeds</a:t>
            </a:r>
          </a:p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Modern renderer and a playable game</a:t>
            </a:r>
          </a:p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Verified by tests and a 16.7 ms budget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03520"/>
            <a:ext cx="82296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49240"/>
            <a:ext cx="1078992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The game: </a:t>
            </a:r>
            <a:r>
              <a:rPr sz="1600" b="0" i="0">
                <a:solidFill>
                  <a:srgbClr val="1E293B"/>
                </a:solidFill>
                <a:latin typeface="Calibri"/>
              </a:rPr>
              <a:t>jeep, truck, carrier, tank and a helicopter you can drive; ladders and doors; stealth enemies; a five-objective mission (hack, destroy, rescue, extract); all sounds synthesised.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0" y="1097280"/>
            <a:ext cx="4206240" cy="566928"/>
          </a:xfrm>
          <a:prstGeom prst="roundRect">
            <a:avLst>
              <a:gd name="adj" fmla="val 6000"/>
            </a:avLst>
          </a:prstGeom>
          <a:solidFill>
            <a:srgbClr val="E4F6F3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097280"/>
            <a:ext cx="4206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Game: mission, AI, vehicles, sound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1737360"/>
            <a:ext cx="4206240" cy="566928"/>
          </a:xfrm>
          <a:prstGeom prst="roundRect">
            <a:avLst>
              <a:gd name="adj" fmla="val 6000"/>
            </a:avLst>
          </a:prstGeom>
          <a:solidFill>
            <a:srgbClr val="D6EDEB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1737360"/>
            <a:ext cx="4206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Render: deferred, lights, sky, post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2377439"/>
            <a:ext cx="4206240" cy="566928"/>
          </a:xfrm>
          <a:prstGeom prst="roundRect">
            <a:avLst>
              <a:gd name="adj" fmla="val 6000"/>
            </a:avLst>
          </a:prstGeom>
          <a:solidFill>
            <a:srgbClr val="C8E4E3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2377439"/>
            <a:ext cx="4206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World: collision, terrain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3017520"/>
            <a:ext cx="4206240" cy="566928"/>
          </a:xfrm>
          <a:prstGeom prst="roundRect">
            <a:avLst>
              <a:gd name="adj" fmla="val 6000"/>
            </a:avLst>
          </a:prstGeom>
          <a:solidFill>
            <a:srgbClr val="BADBDB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3017520"/>
            <a:ext cx="4206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Procedural: noise, textures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4206240" cy="566928"/>
          </a:xfrm>
          <a:prstGeom prst="roundRect">
            <a:avLst>
              <a:gd name="adj" fmla="val 6000"/>
            </a:avLst>
          </a:prstGeom>
          <a:solidFill>
            <a:srgbClr val="ACD2D3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3657600"/>
            <a:ext cx="4206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GPU: shaders, buffers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4297680"/>
            <a:ext cx="4206240" cy="566928"/>
          </a:xfrm>
          <a:prstGeom prst="roundRect">
            <a:avLst>
              <a:gd name="adj" fmla="val 6000"/>
            </a:avLst>
          </a:prstGeom>
          <a:solidFill>
            <a:srgbClr val="9EC9CB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4297680"/>
            <a:ext cx="4206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Platform: window, input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521440" y="1143000"/>
            <a:ext cx="0" cy="3611880"/>
          </a:xfrm>
          <a:prstGeom prst="line">
            <a:avLst/>
          </a:prstGeom>
          <a:ln w="2540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0" y="491947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 lower layer never knows a higher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Procedural shapes and textures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pic>
        <p:nvPicPr>
          <p:cNvPr id="8" name="Picture 7" descr="noise_st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051560"/>
            <a:ext cx="8503920" cy="1669481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828800" y="2748473"/>
            <a:ext cx="8503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gradient, fractal, warped, ridged and cellular noise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78241"/>
            <a:ext cx="5303520" cy="31768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233105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Fractal noise (tiles exactly)</a:t>
            </a:r>
          </a:p>
        </p:txBody>
      </p:sp>
      <p:pic>
        <p:nvPicPr>
          <p:cNvPr id="12" name="Picture 11" descr="frac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9" y="3589721"/>
            <a:ext cx="5029200" cy="1555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5372801"/>
            <a:ext cx="49377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Vertex push by a noise deformer</a:t>
            </a:r>
          </a:p>
        </p:txBody>
      </p:sp>
      <p:pic>
        <p:nvPicPr>
          <p:cNvPr id="14" name="Picture 13" descr="p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84281"/>
            <a:ext cx="4846320" cy="39246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178241"/>
            <a:ext cx="5486400" cy="3108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18 recipes → 22 materials, baked once at 1024²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Scharr filter turns height into bumps; crevices darken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Objects are tables of primitives plus noise deformers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Soldiers: skeletons with two-bone IK legs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Transformations: creating and combining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51560"/>
            <a:ext cx="1691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169164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Primitive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mesh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40280" y="141732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23160" y="1051560"/>
            <a:ext cx="1691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051560"/>
            <a:ext cx="169164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Deformers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(own space)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0" y="141732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97680" y="1051560"/>
            <a:ext cx="1691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051560"/>
            <a:ext cx="169164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M_part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scale, turn, move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141732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1051560"/>
            <a:ext cx="1691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051560"/>
            <a:ext cx="169164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Merge by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material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63840" y="141732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46720" y="1051560"/>
            <a:ext cx="1691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051560"/>
            <a:ext cx="169164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M_world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instances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738360" y="141732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921240" y="1051560"/>
            <a:ext cx="1691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1051560"/>
            <a:ext cx="169164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V then 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to screen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011680"/>
            <a:ext cx="576072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048256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One part: scale, then turn, then move</a:t>
            </a:r>
          </a:p>
        </p:txBody>
      </p:sp>
      <p:pic>
        <p:nvPicPr>
          <p:cNvPr id="27" name="Picture 26" descr="m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423160"/>
            <a:ext cx="5303520" cy="44248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5800" y="2880360"/>
            <a:ext cx="5486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 i="0">
                <a:solidFill>
                  <a:srgbClr val="1E293B"/>
                </a:solidFill>
                <a:latin typeface="Calibri"/>
              </a:rPr>
              <a:t>Matrices act right to left, so the brick is stretched, turned about its own centre, and carried last.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0" i="0">
                <a:solidFill>
                  <a:srgbClr val="1E293B"/>
                </a:solidFill>
                <a:latin typeface="Calibri"/>
              </a:rPr>
              <a:t>Example: (1,0,0) → S(2,1,1) → R_y 90° → T(5,0,0) = (5, 0, −2)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14800"/>
            <a:ext cx="576072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151376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Normals use the inverse transpose</a:t>
            </a:r>
          </a:p>
        </p:txBody>
      </p:sp>
      <p:pic>
        <p:nvPicPr>
          <p:cNvPr id="31" name="Picture 30" descr="nm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526280"/>
            <a:ext cx="1963826" cy="7772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834640" y="4526280"/>
            <a:ext cx="338328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1E293B"/>
                </a:solidFill>
                <a:latin typeface="Calibri"/>
              </a:rPr>
              <a:t>Keeps normals perpendicular after a stretch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440680"/>
            <a:ext cx="54864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S = diag(2,1,1), n = (1,1,0)/√2: correct (0.447, 0.894, 0), naive (0.894, 0.447, 0) is wrong; det &lt; 0 flips winding</a:t>
            </a:r>
          </a:p>
        </p:txBody>
      </p:sp>
      <p:pic>
        <p:nvPicPr>
          <p:cNvPr id="34" name="Picture 33" descr="tan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2011680"/>
            <a:ext cx="2468880" cy="1388745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pic>
        <p:nvPicPr>
          <p:cNvPr id="35" name="Picture 34" descr="tru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011680"/>
            <a:ext cx="2468880" cy="1388745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36" name="TextBox 35"/>
          <p:cNvSpPr txBox="1"/>
          <p:nvPr/>
        </p:nvSpPr>
        <p:spPr>
          <a:xfrm>
            <a:off x="6583680" y="3437001"/>
            <a:ext cx="51206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Tank (hull, turret, gun) and truck: transformed primitives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342900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465576"/>
            <a:ext cx="48463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Hierarchy: products down the chain</a:t>
            </a:r>
          </a:p>
        </p:txBody>
      </p:sp>
      <p:pic>
        <p:nvPicPr>
          <p:cNvPr id="39" name="Picture 38" descr="mg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4754880" cy="3559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720840" y="4297680"/>
            <a:ext cx="484632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1E293B"/>
                </a:solidFill>
                <a:latin typeface="Calibri"/>
              </a:rPr>
              <a:t>The turret and gun inherit the hull matrix: turning the hull carries them along.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5074920"/>
            <a:ext cx="48463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World to screen</a:t>
            </a:r>
          </a:p>
        </p:txBody>
      </p:sp>
      <p:pic>
        <p:nvPicPr>
          <p:cNvPr id="42" name="Picture 41" descr="cli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5440680"/>
            <a:ext cx="4023360" cy="4737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720840" y="5897880"/>
            <a:ext cx="48463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view V (look-at), projection P divides by depth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Illumination models and light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pic>
        <p:nvPicPr>
          <p:cNvPr id="8" name="Picture 7" descr="s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24128"/>
            <a:ext cx="7589520" cy="769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75320" y="1005840"/>
            <a:ext cx="34747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f = illumination model, att = falloff, sh = shadow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45920"/>
            <a:ext cx="576072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73936"/>
            <a:ext cx="1691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Lambert</a:t>
            </a:r>
          </a:p>
        </p:txBody>
      </p:sp>
      <p:pic>
        <p:nvPicPr>
          <p:cNvPr id="12" name="Picture 11" descr="lamb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8880" y="1755648"/>
            <a:ext cx="687787" cy="4571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505456"/>
            <a:ext cx="1691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Phong</a:t>
            </a:r>
          </a:p>
        </p:txBody>
      </p:sp>
      <p:pic>
        <p:nvPicPr>
          <p:cNvPr id="14" name="Picture 13" descr="ph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2487168"/>
            <a:ext cx="2821172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236976"/>
            <a:ext cx="1691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Blinn–Phong</a:t>
            </a:r>
          </a:p>
        </p:txBody>
      </p:sp>
      <p:pic>
        <p:nvPicPr>
          <p:cNvPr id="16" name="Picture 15" descr="blin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8880" y="3218688"/>
            <a:ext cx="2856613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3968496"/>
            <a:ext cx="1691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Oren–Nayar</a:t>
            </a:r>
          </a:p>
        </p:txBody>
      </p:sp>
      <p:pic>
        <p:nvPicPr>
          <p:cNvPr id="18" name="Picture 17" descr="or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68880" y="3950207"/>
            <a:ext cx="3737113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5800" y="4700016"/>
            <a:ext cx="1691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Cook–Torrance</a:t>
            </a:r>
          </a:p>
        </p:txBody>
      </p:sp>
      <p:pic>
        <p:nvPicPr>
          <p:cNvPr id="20" name="Picture 19" descr="c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8880" y="4681727"/>
            <a:ext cx="2658139" cy="4571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5800" y="5431536"/>
            <a:ext cx="16916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Subsurface</a:t>
            </a:r>
          </a:p>
        </p:txBody>
      </p:sp>
      <p:pic>
        <p:nvPicPr>
          <p:cNvPr id="22" name="Picture 21" descr="s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8880" y="5413247"/>
            <a:ext cx="2122714" cy="457200"/>
          </a:xfrm>
          <a:prstGeom prst="rect">
            <a:avLst/>
          </a:prstGeom>
        </p:spPr>
      </p:pic>
      <p:pic>
        <p:nvPicPr>
          <p:cNvPr id="23" name="Picture 22" descr="model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1645920"/>
            <a:ext cx="5120640" cy="875898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6583680" y="2549250"/>
            <a:ext cx="51206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4748B"/>
                </a:solidFill>
                <a:latin typeface="Calibri"/>
              </a:rPr>
              <a:t>Lambert · Phong · Blinn–Phong · Oren–Nayar · Cook–Torrance · Subsurface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933298"/>
            <a:ext cx="5120640" cy="342178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969874"/>
            <a:ext cx="48463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Light sources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17346"/>
            <a:ext cx="4846320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200"/>
              </a:spcAft>
              <a:buClr>
                <a:srgbClr val="007A3D"/>
              </a:buClr>
              <a:buChar char="•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Directional: sun, moon (no falloff)</a:t>
            </a:r>
          </a:p>
          <a:p>
            <a:pPr algn="l" marL="256032" indent="-256032">
              <a:lnSpc>
                <a:spcPct val="100000"/>
              </a:lnSpc>
              <a:spcAft>
                <a:spcPts val="200"/>
              </a:spcAft>
              <a:buClr>
                <a:srgbClr val="007A3D"/>
              </a:buClr>
              <a:buChar char="•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Point: lamps, flashes</a:t>
            </a:r>
          </a:p>
          <a:p>
            <a:pPr algn="l" marL="256032" indent="-256032">
              <a:lnSpc>
                <a:spcPct val="100000"/>
              </a:lnSpc>
              <a:spcAft>
                <a:spcPts val="200"/>
              </a:spcAft>
              <a:buClr>
                <a:srgbClr val="007A3D"/>
              </a:buClr>
              <a:buChar char="•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Spot: floodlights; cone factor</a:t>
            </a:r>
          </a:p>
          <a:p>
            <a:pPr algn="l" marL="256032" indent="-256032">
              <a:lnSpc>
                <a:spcPct val="100000"/>
              </a:lnSpc>
              <a:spcAft>
                <a:spcPts val="200"/>
              </a:spcAft>
              <a:buClr>
                <a:srgbClr val="007A3D"/>
              </a:buClr>
              <a:buChar char="•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Area: 4×4 point samples</a:t>
            </a:r>
          </a:p>
        </p:txBody>
      </p:sp>
      <p:pic>
        <p:nvPicPr>
          <p:cNvPr id="28" name="Picture 27" descr="at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6560" y="5394960"/>
            <a:ext cx="2743200" cy="545077"/>
          </a:xfrm>
          <a:prstGeom prst="rect">
            <a:avLst/>
          </a:prstGeom>
        </p:spPr>
      </p:pic>
      <p:pic>
        <p:nvPicPr>
          <p:cNvPr id="29" name="Picture 28" descr="spo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01200" y="5440680"/>
            <a:ext cx="2011680" cy="3647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5. The rendering pipeline: shadows, ambient, tone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Sky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table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146304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Shadows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3 cascades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146304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749039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Geometry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G-buffer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66359" y="1463040"/>
            <a:ext cx="182881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SSAO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59" y="1463040"/>
            <a:ext cx="182881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9494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Lighting,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reflect, fog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66760" y="146304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5496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Smoke,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fire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966960" y="146304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1498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Bloom, ACES,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FXAA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011680"/>
            <a:ext cx="630936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Deferred shading: </a:t>
            </a:r>
            <a:r>
              <a:rPr sz="1600" b="0" i="0">
                <a:solidFill>
                  <a:srgbClr val="1E293B"/>
                </a:solidFill>
                <a:latin typeface="Calibri"/>
              </a:rPr>
              <a:t>store colour, normal, shininess and depth first, then light each pixel once.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926080"/>
            <a:ext cx="630936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71800"/>
            <a:ext cx="5943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Cascaded shadow maps (λ = 0.75, N = 3, n = 0.1, r = 100 m)</a:t>
            </a:r>
          </a:p>
        </p:txBody>
      </p:sp>
      <p:pic>
        <p:nvPicPr>
          <p:cNvPr id="31" name="Picture 30" descr="c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383280"/>
            <a:ext cx="5120640" cy="71089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5800" y="4114800"/>
            <a:ext cx="5943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1E293B"/>
                </a:solidFill>
                <a:latin typeface="Calibri"/>
              </a:rPr>
              <a:t>Cuts at 9.1, 24.2, 100 m; normal-offset lookup, 8 rotated PCF taps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5943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Fog and tone map</a:t>
            </a:r>
          </a:p>
        </p:txBody>
      </p:sp>
      <p:pic>
        <p:nvPicPr>
          <p:cNvPr id="34" name="Picture 33" descr="f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074920"/>
            <a:ext cx="2834640" cy="265084"/>
          </a:xfrm>
          <a:prstGeom prst="rect">
            <a:avLst/>
          </a:prstGeom>
        </p:spPr>
      </p:pic>
      <p:pic>
        <p:nvPicPr>
          <p:cNvPr id="35" name="Picture 34" descr="a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4983480"/>
            <a:ext cx="2743200" cy="55820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5800" y="5806440"/>
            <a:ext cx="60350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Ambient = sky diffuse + split-sum specular, times SSAO</a:t>
            </a:r>
          </a:p>
        </p:txBody>
      </p:sp>
      <p:pic>
        <p:nvPicPr>
          <p:cNvPr id="37" name="Picture 36" descr="dus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2057400"/>
            <a:ext cx="4572000" cy="2571750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7178040" y="4702302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1">
                <a:solidFill>
                  <a:srgbClr val="64748B"/>
                </a:solidFill>
                <a:latin typeface="Calibri"/>
              </a:rPr>
              <a:t>Dusk: sun, sky, haze, shadows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5177790"/>
            <a:ext cx="45720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Sun, moon, lamps, cascaded shadows, SSAO, screen-space reflections, bloom and FXAA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6. Results, verification and a bug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051560"/>
          <a:ext cx="5669280" cy="2514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11880"/>
            <a:ext cx="56692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F8F85"/>
                </a:solidFill>
                <a:latin typeface="Calibri"/>
              </a:rPr>
              <a:t>10.9 ms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 of the 16.7 ms budget at 1080p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T="27432" marB="27432">
                    <a:solidFill>
                      <a:srgbClr val="0F8F8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27432" marB="27432">
                    <a:solidFill>
                      <a:srgbClr val="0F8F8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Unit tests (13 packages)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TextureCheck (exact tiling)</a:t>
                      </a:r>
                    </a:p>
                  </a:txBody>
                  <a:tcPr marT="27432" marB="27432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T="27432" marB="27432">
                    <a:solidFill>
                      <a:srgbClr val="E6F4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RenderCheck (lighting probes)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318,567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GpuCheck</a:t>
                      </a:r>
                    </a:p>
                  </a:txBody>
                  <a:tcPr marT="27432" marB="27432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T="27432" marB="27432">
                    <a:solidFill>
                      <a:srgbClr val="E6F4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Playthroughs, 5/5 objectives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0" y="1051560"/>
            <a:ext cx="521208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Bug: a vertical line at night.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Fog sampled the whole sky, so one horizon star streaked a column. Fix: fog uses the smooth atmosphere only.</a:t>
            </a:r>
          </a:p>
        </p:txBody>
      </p:sp>
      <p:pic>
        <p:nvPicPr>
          <p:cNvPr id="12" name="Picture 11" descr="gate_night_b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103120"/>
            <a:ext cx="2542032" cy="1429893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pic>
        <p:nvPicPr>
          <p:cNvPr id="13" name="Picture 12" descr="gate_n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2288" y="2103120"/>
            <a:ext cx="2542032" cy="1429893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492240" y="3551300"/>
            <a:ext cx="2542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551300"/>
            <a:ext cx="254203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After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114800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4114800"/>
            <a:ext cx="82296" cy="2194560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187952"/>
            <a:ext cx="49377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Limits and future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572000"/>
            <a:ext cx="4937760" cy="166420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Blocky primitive models; no true global illumination; lumpy foliage</a:t>
            </a:r>
          </a:p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Leaf cards, screen-space GI, point-light shadows, multiplayer, compute port</a:t>
            </a:r>
          </a:p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Take-away: most "art" is a few simple ideas, applied consistently and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7. Video tour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[1] K. Perlin, "Improving noise," ACM TOG, 21(3), 2002.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[2] S. Worley, "A cellular texture basis function," SIGGRAPH, 1996.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[3] R. Cook, K. Torrance, "A reflectance model for computer graphics," ACM TOG, 1(1), 1982.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[4] B. Walter et al., "Microfacet models for refraction through rough surfaces," EGSR,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[5] B. Karis, "Real shading in Unreal Engine 4," SIGGRAPH Course, 2013.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[6] S. Hillaire, "A scalable and production ready sky and atmosphere rendering technique," CGF, 39(4), 2020.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[7] R. Dimitrov, "Cascaded shadow maps," NVIDIA,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[8] M. Oren, S. Nayar, "Generalization of Lambert's reflectance model," SIGGRAPH, 1994.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[9] K. Narkowicz, "ACES filmic tone mapping curve," 2016.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[10] J. Jimenez, "Next generation post processing in Call of Duty: Advanced Warfare," SIGGRAPH, 2014.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[11] T. Lottes, "FXAA," NVIDIA, 2009.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[12] M. Segal, K. Akeley, The OpenGL Graphics System, v4.1, Khronos, 2010.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[13] I. Quilez, "Domain warping," iquilezles.org.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[14] S. Hargreaves, M. Harris, "Deferred shading," NVIDIA, GDC 2004.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[15] H. Scharr, "Optimal operators in digital image processing," Ph.D., Heidelberg, 2000.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[16] T. Akenine-Möller et al., Real-Time Rendering, 4th ed., CRC Press, 2018.</a:t>
            </a:r>
          </a:p>
        </p:txBody>
      </p:sp>
      <p:pic>
        <p:nvPicPr>
          <p:cNvPr id="10" name="Picture 9" descr="ba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15000"/>
            <a:ext cx="12191695" cy="1143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585216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585216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Questions are welcome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Md. Shifat Hasan  ·  Roll 2107067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